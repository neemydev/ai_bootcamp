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Roboto Mono"/>
      <p:regular r:id="rId20"/>
      <p:bold r:id="rId21"/>
      <p:italic r:id="rId22"/>
      <p:boldItalic r:id="rId23"/>
    </p:embeddedFont>
    <p:embeddedFont>
      <p:font typeface="Crimson Pro SemiBold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22" Type="http://schemas.openxmlformats.org/officeDocument/2006/relationships/font" Target="fonts/RobotoMono-italic.fntdata"/><Relationship Id="rId21" Type="http://schemas.openxmlformats.org/officeDocument/2006/relationships/font" Target="fonts/RobotoMono-bold.fntdata"/><Relationship Id="rId24" Type="http://schemas.openxmlformats.org/officeDocument/2006/relationships/font" Target="fonts/CrimsonProSemiBold-regular.fntdata"/><Relationship Id="rId23" Type="http://schemas.openxmlformats.org/officeDocument/2006/relationships/font" Target="fonts/RobotoMono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CrimsonProSemiBold-italic.fntdata"/><Relationship Id="rId25" Type="http://schemas.openxmlformats.org/officeDocument/2006/relationships/font" Target="fonts/CrimsonProSemiBold-bold.fntdata"/><Relationship Id="rId27" Type="http://schemas.openxmlformats.org/officeDocument/2006/relationships/font" Target="fonts/CrimsonProSemiBold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ab751390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ab751390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30c7e80f6_2_30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430c7e80f6_2_30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7" name="Google Shape;107;g3430c7e80f6_2_30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430c7e80f6_2_43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430c7e80f6_2_43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5" name="Google Shape;115;g3430c7e80f6_2_43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30c7e80f6_2_56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430c7e80f6_2_56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24" name="Google Shape;124;g3430c7e80f6_2_56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34be1ecb3_1_0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434be1ecb3_1_0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33" name="Google Shape;133;g3434be1ecb3_1_0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43f4c77d8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43f4c77d8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30c7e80f6_4_79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430c7e80f6_4_79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50" name="Google Shape;150;g3430c7e80f6_4_79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430c7e80f6_2_87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430c7e80f6_2_87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58" name="Google Shape;158;g3430c7e80f6_2_87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430c7e80f6_2_99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430c7e80f6_2_99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68" name="Google Shape;168;g3430c7e80f6_2_99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430c7e80f6_2_113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430c7e80f6_2_113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77" name="Google Shape;177;g3430c7e80f6_2_113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430c7e80f6_4_41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430c7e80f6_4_41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84" name="Google Shape;184;g3430c7e80f6_4_41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430c7e80f6_4_49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430c7e80f6_4_49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91" name="Google Shape;191;g3430c7e80f6_4_49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2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2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2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Learning Frameworks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Intro to PyTorch and Training Models</a:t>
            </a:r>
            <a:endParaRPr sz="3500"/>
          </a:p>
        </p:txBody>
      </p:sp>
      <p:sp>
        <p:nvSpPr>
          <p:cNvPr id="97" name="Google Shape;97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6 - Day 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/>
          <p:nvPr/>
        </p:nvSpPr>
        <p:spPr>
          <a:xfrm>
            <a:off x="333150" y="60850"/>
            <a:ext cx="619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Why Use a Deep Learning Framework?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03" name="Google Shape;103;p26"/>
          <p:cNvSpPr txBox="1"/>
          <p:nvPr/>
        </p:nvSpPr>
        <p:spPr>
          <a:xfrm>
            <a:off x="0" y="1082050"/>
            <a:ext cx="5853600" cy="42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Writing everything from scratch is: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romanLcPeriod"/>
            </a:pPr>
            <a:r>
              <a:rPr lang="en" sz="1100">
                <a:solidFill>
                  <a:schemeClr val="dk1"/>
                </a:solidFill>
              </a:rPr>
              <a:t>Time-consuming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romanLcPeriod"/>
            </a:pPr>
            <a:r>
              <a:rPr lang="en" sz="1100">
                <a:solidFill>
                  <a:schemeClr val="dk1"/>
                </a:solidFill>
              </a:rPr>
              <a:t>Error-prone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romanLcPeriod"/>
            </a:pPr>
            <a:r>
              <a:rPr lang="en" sz="1100">
                <a:solidFill>
                  <a:schemeClr val="dk1"/>
                </a:solidFill>
              </a:rPr>
              <a:t>Not scalable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Frameworks like </a:t>
            </a:r>
            <a:r>
              <a:rPr b="1" lang="en" sz="1100">
                <a:solidFill>
                  <a:schemeClr val="dk1"/>
                </a:solidFill>
              </a:rPr>
              <a:t>PyTorch</a:t>
            </a:r>
            <a:r>
              <a:rPr lang="en" sz="1100">
                <a:solidFill>
                  <a:schemeClr val="dk1"/>
                </a:solidFill>
              </a:rPr>
              <a:t> or </a:t>
            </a:r>
            <a:r>
              <a:rPr b="1" lang="en" sz="1100">
                <a:solidFill>
                  <a:schemeClr val="dk1"/>
                </a:solidFill>
              </a:rPr>
              <a:t>TensorFlow</a:t>
            </a:r>
            <a:r>
              <a:rPr lang="en" sz="1100">
                <a:solidFill>
                  <a:schemeClr val="dk1"/>
                </a:solidFill>
              </a:rPr>
              <a:t>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romanLcPeriod"/>
            </a:pPr>
            <a:r>
              <a:rPr lang="en" sz="1100">
                <a:solidFill>
                  <a:schemeClr val="dk1"/>
                </a:solidFill>
              </a:rPr>
              <a:t>Automate gradients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romanLcPeriod"/>
            </a:pPr>
            <a:r>
              <a:rPr lang="en" sz="1100">
                <a:solidFill>
                  <a:schemeClr val="dk1"/>
                </a:solidFill>
              </a:rPr>
              <a:t>Optimize matrix operations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romanLcPeriod"/>
            </a:pPr>
            <a:r>
              <a:rPr lang="en" sz="1100">
                <a:solidFill>
                  <a:schemeClr val="dk1"/>
                </a:solidFill>
              </a:rPr>
              <a:t>Manage models, layers, optimizers easily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Popular Frameworks: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PyTorch (developer-friendly)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TensorFlow (production-friendly)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7"/>
          <p:cNvSpPr/>
          <p:nvPr/>
        </p:nvSpPr>
        <p:spPr>
          <a:xfrm>
            <a:off x="496125" y="726525"/>
            <a:ext cx="64839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Why PyTorch</a:t>
            </a: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?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10" name="Google Shape;110;p27"/>
          <p:cNvSpPr/>
          <p:nvPr/>
        </p:nvSpPr>
        <p:spPr>
          <a:xfrm>
            <a:off x="496119" y="1517283"/>
            <a:ext cx="4722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Pythonic &amp; intuitive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Strong community support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Dynamic computation graphs (easy debugging)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Widely used in academia and industry (Meta, OpenAI)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11" name="Google Shape;11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125" y="2814701"/>
            <a:ext cx="7184999" cy="225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/>
          <p:nvPr/>
        </p:nvSpPr>
        <p:spPr>
          <a:xfrm>
            <a:off x="992237" y="3207841"/>
            <a:ext cx="31449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400"/>
              <a:buFont typeface="Crimson Pro SemiBold"/>
              <a:buNone/>
            </a:pPr>
            <a:r>
              <a:t/>
            </a:r>
            <a:endParaRPr b="0" i="0" sz="1400" u="none" cap="none" strike="noStrike"/>
          </a:p>
        </p:txBody>
      </p:sp>
      <p:sp>
        <p:nvSpPr>
          <p:cNvPr id="118" name="Google Shape;118;p28"/>
          <p:cNvSpPr txBox="1"/>
          <p:nvPr/>
        </p:nvSpPr>
        <p:spPr>
          <a:xfrm>
            <a:off x="195000" y="97500"/>
            <a:ext cx="5159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What is a Tensor?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19" name="Google Shape;119;p28"/>
          <p:cNvSpPr txBox="1"/>
          <p:nvPr/>
        </p:nvSpPr>
        <p:spPr>
          <a:xfrm>
            <a:off x="195000" y="859375"/>
            <a:ext cx="5281800" cy="27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 </a:t>
            </a:r>
            <a:r>
              <a:rPr b="1" lang="en" sz="1100">
                <a:solidFill>
                  <a:schemeClr val="dk1"/>
                </a:solidFill>
              </a:rPr>
              <a:t>Tensor</a:t>
            </a:r>
            <a:r>
              <a:rPr lang="en" sz="1100">
                <a:solidFill>
                  <a:schemeClr val="dk1"/>
                </a:solidFill>
              </a:rPr>
              <a:t> is the core data structure in PyTorch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Similar to </a:t>
            </a:r>
            <a:r>
              <a:rPr b="1" lang="en" sz="1100">
                <a:solidFill>
                  <a:schemeClr val="dk1"/>
                </a:solidFill>
              </a:rPr>
              <a:t>NumPy arrays</a:t>
            </a:r>
            <a:r>
              <a:rPr lang="en" sz="1100">
                <a:solidFill>
                  <a:schemeClr val="dk1"/>
                </a:solidFill>
              </a:rPr>
              <a:t>, but with added features (like autograd and GPU support)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Examples: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Scalar → 0D tensor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Vector → 1D tensor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Matrix → 2D tensor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Higher dimensions → Images, video, etc.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20" name="Google Shape;12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424" y="3580899"/>
            <a:ext cx="5606676" cy="10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/>
          <p:nvPr/>
        </p:nvSpPr>
        <p:spPr>
          <a:xfrm>
            <a:off x="421772" y="331450"/>
            <a:ext cx="58086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300"/>
              <a:buFont typeface="Crimson Pro SemiBold"/>
              <a:buNone/>
            </a:pPr>
            <a:r>
              <a:rPr b="1" lang="en" sz="23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Tensor Operations</a:t>
            </a:r>
            <a:endParaRPr b="0" i="0" sz="2300" u="none" cap="none" strike="noStrike"/>
          </a:p>
        </p:txBody>
      </p:sp>
      <p:sp>
        <p:nvSpPr>
          <p:cNvPr id="127" name="Google Shape;127;p29"/>
          <p:cNvSpPr txBox="1"/>
          <p:nvPr/>
        </p:nvSpPr>
        <p:spPr>
          <a:xfrm>
            <a:off x="421775" y="958825"/>
            <a:ext cx="45999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Operations you can perform: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Element-wise math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Matrix multiplication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Reshape, squeeze, unsqueeze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Transfer between CPU/GPU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28" name="Google Shape;12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775" y="2571750"/>
            <a:ext cx="5569626" cy="122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9"/>
          <p:cNvSpPr txBox="1"/>
          <p:nvPr/>
        </p:nvSpPr>
        <p:spPr>
          <a:xfrm>
            <a:off x="421775" y="4038425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Why tensors?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Efficient computation on both CPU and GPU!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0"/>
          <p:cNvSpPr/>
          <p:nvPr/>
        </p:nvSpPr>
        <p:spPr>
          <a:xfrm>
            <a:off x="496125" y="169925"/>
            <a:ext cx="6898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Building a Simple Neural Network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36" name="Google Shape;136;p30"/>
          <p:cNvSpPr txBox="1"/>
          <p:nvPr/>
        </p:nvSpPr>
        <p:spPr>
          <a:xfrm>
            <a:off x="496125" y="869475"/>
            <a:ext cx="4460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PyTorch provides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torch.nn</a:t>
            </a:r>
            <a:r>
              <a:rPr lang="en" sz="1100">
                <a:solidFill>
                  <a:schemeClr val="dk1"/>
                </a:solidFill>
              </a:rPr>
              <a:t> to build networks.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37" name="Google Shape;13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550" y="1479925"/>
            <a:ext cx="5072350" cy="247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0"/>
          <p:cNvSpPr txBox="1"/>
          <p:nvPr/>
        </p:nvSpPr>
        <p:spPr>
          <a:xfrm>
            <a:off x="550550" y="4119675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__init__()</a:t>
            </a:r>
            <a:r>
              <a:rPr lang="en" sz="1100">
                <a:solidFill>
                  <a:schemeClr val="dk1"/>
                </a:solidFill>
              </a:rPr>
              <a:t> – Define layers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forward()</a:t>
            </a:r>
            <a:r>
              <a:rPr lang="en" sz="1100">
                <a:solidFill>
                  <a:schemeClr val="dk1"/>
                </a:solidFill>
              </a:rPr>
              <a:t> – Define forward pass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1"/>
          <p:cNvSpPr txBox="1"/>
          <p:nvPr/>
        </p:nvSpPr>
        <p:spPr>
          <a:xfrm>
            <a:off x="292525" y="91350"/>
            <a:ext cx="5151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Training Loop Explained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45" name="Google Shape;145;p31"/>
          <p:cNvSpPr txBox="1"/>
          <p:nvPr/>
        </p:nvSpPr>
        <p:spPr>
          <a:xfrm>
            <a:off x="292525" y="1263000"/>
            <a:ext cx="49647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Steps to train a model: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Forward pass – compute predictions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Compute loss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Backward pass – compute gradients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Update weights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46" name="Google Shape;14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550" y="3093000"/>
            <a:ext cx="4981575" cy="16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2"/>
          <p:cNvSpPr/>
          <p:nvPr/>
        </p:nvSpPr>
        <p:spPr>
          <a:xfrm>
            <a:off x="390500" y="352850"/>
            <a:ext cx="5791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Loss Functions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t/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53" name="Google Shape;153;p32"/>
          <p:cNvSpPr txBox="1"/>
          <p:nvPr/>
        </p:nvSpPr>
        <p:spPr>
          <a:xfrm>
            <a:off x="390500" y="1283850"/>
            <a:ext cx="48099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Common losses: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MSE Loss</a:t>
            </a:r>
            <a:r>
              <a:rPr lang="en" sz="1100">
                <a:solidFill>
                  <a:schemeClr val="dk1"/>
                </a:solidFill>
              </a:rPr>
              <a:t> → for regression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Cross Entropy Loss</a:t>
            </a:r>
            <a:r>
              <a:rPr lang="en" sz="1100">
                <a:solidFill>
                  <a:schemeClr val="dk1"/>
                </a:solidFill>
              </a:rPr>
              <a:t> → for classification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54" name="Google Shape;15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150" y="2860600"/>
            <a:ext cx="4800600" cy="75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3"/>
          <p:cNvSpPr/>
          <p:nvPr/>
        </p:nvSpPr>
        <p:spPr>
          <a:xfrm>
            <a:off x="496126" y="749275"/>
            <a:ext cx="7640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Optimizers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61" name="Google Shape;161;p33"/>
          <p:cNvSpPr txBox="1"/>
          <p:nvPr/>
        </p:nvSpPr>
        <p:spPr>
          <a:xfrm>
            <a:off x="496125" y="1251350"/>
            <a:ext cx="461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62" name="Google Shape;162;p33"/>
          <p:cNvSpPr txBox="1"/>
          <p:nvPr/>
        </p:nvSpPr>
        <p:spPr>
          <a:xfrm>
            <a:off x="496125" y="1438225"/>
            <a:ext cx="42168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Optimizers update weights using gradients.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Popular ones: </a:t>
            </a:r>
            <a:r>
              <a:rPr b="1" lang="en" sz="1100">
                <a:solidFill>
                  <a:schemeClr val="dk1"/>
                </a:solidFill>
              </a:rPr>
              <a:t>SGD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b="1" lang="en" sz="1100">
                <a:solidFill>
                  <a:schemeClr val="dk1"/>
                </a:solidFill>
              </a:rPr>
              <a:t>Adam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63" name="Google Shape;16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525" y="2634675"/>
            <a:ext cx="4981575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3"/>
          <p:cNvSpPr txBox="1"/>
          <p:nvPr/>
        </p:nvSpPr>
        <p:spPr>
          <a:xfrm>
            <a:off x="496125" y="3599650"/>
            <a:ext cx="3420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Call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.step()</a:t>
            </a:r>
            <a:r>
              <a:rPr lang="en" sz="1100">
                <a:solidFill>
                  <a:schemeClr val="dk1"/>
                </a:solidFill>
              </a:rPr>
              <a:t> to update weights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Call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.zero_grad()</a:t>
            </a:r>
            <a:r>
              <a:rPr lang="en" sz="1100">
                <a:solidFill>
                  <a:schemeClr val="dk1"/>
                </a:solidFill>
              </a:rPr>
              <a:t> to clear old gradients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4"/>
          <p:cNvSpPr/>
          <p:nvPr/>
        </p:nvSpPr>
        <p:spPr>
          <a:xfrm>
            <a:off x="496125" y="432950"/>
            <a:ext cx="6743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Evaluation Mode vs Training Mode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t/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t/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71" name="Google Shape;171;p34"/>
          <p:cNvSpPr txBox="1"/>
          <p:nvPr/>
        </p:nvSpPr>
        <p:spPr>
          <a:xfrm>
            <a:off x="496125" y="1279700"/>
            <a:ext cx="48993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Models behave differently during training and evaluation: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Dropout, batch norm, etc. work differently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72" name="Google Shape;17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363" y="2571750"/>
            <a:ext cx="5076825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4"/>
          <p:cNvSpPr txBox="1"/>
          <p:nvPr/>
        </p:nvSpPr>
        <p:spPr>
          <a:xfrm>
            <a:off x="496125" y="3932800"/>
            <a:ext cx="450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Important for model validation &amp; testing!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5"/>
          <p:cNvSpPr/>
          <p:nvPr/>
        </p:nvSpPr>
        <p:spPr>
          <a:xfrm>
            <a:off x="496125" y="432950"/>
            <a:ext cx="6743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GPU Acceleration</a:t>
            </a:r>
            <a:endParaRPr b="0" i="0" sz="2800" u="none" cap="none" strike="noStrike"/>
          </a:p>
        </p:txBody>
      </p:sp>
      <p:sp>
        <p:nvSpPr>
          <p:cNvPr id="180" name="Google Shape;180;p35"/>
          <p:cNvSpPr txBox="1"/>
          <p:nvPr/>
        </p:nvSpPr>
        <p:spPr>
          <a:xfrm>
            <a:off x="496125" y="1279700"/>
            <a:ext cx="4899300" cy="16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Neural networks = Lots of matrix math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GPUs are optimized for </a:t>
            </a:r>
            <a:r>
              <a:rPr b="1" lang="en" sz="1100">
                <a:solidFill>
                  <a:schemeClr val="dk1"/>
                </a:solidFill>
              </a:rPr>
              <a:t>parallel operations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Training on CPU: hours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Training on GPU: minutes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/>
          <p:nvPr/>
        </p:nvSpPr>
        <p:spPr>
          <a:xfrm>
            <a:off x="333625" y="504375"/>
            <a:ext cx="64839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CPU vs GPU</a:t>
            </a:r>
            <a:endParaRPr b="0" i="0" sz="2800" u="none" cap="none" strike="noStrike"/>
          </a:p>
        </p:txBody>
      </p:sp>
      <p:pic>
        <p:nvPicPr>
          <p:cNvPr id="187" name="Google Shape;18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338" y="1671638"/>
            <a:ext cx="7553325" cy="1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7"/>
          <p:cNvSpPr/>
          <p:nvPr/>
        </p:nvSpPr>
        <p:spPr>
          <a:xfrm>
            <a:off x="496125" y="478250"/>
            <a:ext cx="56631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Using GPU in PyTorch</a:t>
            </a:r>
            <a:endParaRPr b="0" i="0" sz="2800" u="none" cap="none" strike="noStrike"/>
          </a:p>
        </p:txBody>
      </p:sp>
      <p:pic>
        <p:nvPicPr>
          <p:cNvPr id="194" name="Google Shape;19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125" y="2211350"/>
            <a:ext cx="6800850" cy="13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