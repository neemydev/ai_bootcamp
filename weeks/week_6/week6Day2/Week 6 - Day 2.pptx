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Crimson Pro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CrimsonProSemiBold-bold.fntdata"/><Relationship Id="rId23" Type="http://schemas.openxmlformats.org/officeDocument/2006/relationships/font" Target="fonts/CrimsonPro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CrimsonProSemiBold-boldItalic.fntdata"/><Relationship Id="rId25" Type="http://schemas.openxmlformats.org/officeDocument/2006/relationships/font" Target="fonts/CrimsonPro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ab75139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ab75139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30c7e80f6_2_3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430c7e80f6_2_3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8" name="Google Shape;108;g3430c7e80f6_2_3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30c7e80f6_2_4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430c7e80f6_2_4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5" name="Google Shape;115;g3430c7e80f6_2_4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30c7e80f6_2_56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430c7e80f6_2_56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4" name="Google Shape;124;g3430c7e80f6_2_56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34be1ecb3_1_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434be1ecb3_1_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1" name="Google Shape;131;g3434be1ecb3_1_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3f4c77d8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3f4c77d8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30c7e80f6_4_7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430c7e80f6_4_7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5" name="Google Shape;145;g3430c7e80f6_4_7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30c7e80f6_2_87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430c7e80f6_2_87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2" name="Google Shape;152;g3430c7e80f6_2_87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30c7e80f6_2_9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430c7e80f6_2_9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0" name="Google Shape;160;g3430c7e80f6_2_9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30c7e80f6_2_11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430c7e80f6_2_11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7" name="Google Shape;167;g3430c7e80f6_2_11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30c7e80f6_4_41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430c7e80f6_4_41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4" name="Google Shape;174;g3430c7e80f6_4_41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30c7e80f6_4_4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430c7e80f6_4_4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1" name="Google Shape;181;g3430c7e80f6_4_4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39cd885e2_0_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439cd885e2_0_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8" name="Google Shape;188;g3439cd885e2_0_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ad57aab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ad57aab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ad57aab14_0_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4ad57aab14_0_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00" name="Google Shape;200;g34ad57aab14_0_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Foundations of Deep Learning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How Neural Networks Learn</a:t>
            </a:r>
            <a:endParaRPr sz="3500"/>
          </a:p>
        </p:txBody>
      </p:sp>
      <p:sp>
        <p:nvSpPr>
          <p:cNvPr id="97" name="Google Shape;9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6 - Day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/>
        </p:nvSpPr>
        <p:spPr>
          <a:xfrm>
            <a:off x="333150" y="60850"/>
            <a:ext cx="61917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Recap: Multi-Layer Perceptron (MLP) Structure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03" name="Google Shape;10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6400" y="2063900"/>
            <a:ext cx="4107602" cy="270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6"/>
          <p:cNvSpPr txBox="1"/>
          <p:nvPr/>
        </p:nvSpPr>
        <p:spPr>
          <a:xfrm>
            <a:off x="427575" y="1366450"/>
            <a:ext cx="5853600" cy="3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Points: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Layers Overview: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Input Layer:</a:t>
            </a:r>
            <a:r>
              <a:rPr lang="en" sz="1100">
                <a:solidFill>
                  <a:schemeClr val="dk1"/>
                </a:solidFill>
              </a:rPr>
              <a:t> Receives raw data/features.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Hidden Layers:</a:t>
            </a:r>
            <a:r>
              <a:rPr lang="en" sz="1100">
                <a:solidFill>
                  <a:schemeClr val="dk1"/>
                </a:solidFill>
              </a:rPr>
              <a:t> Intermediate processing layers where non-linear transformations occur.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Output Layer:</a:t>
            </a:r>
            <a:r>
              <a:rPr lang="en" sz="1100">
                <a:solidFill>
                  <a:schemeClr val="dk1"/>
                </a:solidFill>
              </a:rPr>
              <a:t> Produces the final prediction or decision.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Connections &amp; Weights: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Each neuron in one layer connects to neurons in the next, with an associated weight.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Feedforward Operation: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Data flows from input to output.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/>
          <p:nvPr/>
        </p:nvSpPr>
        <p:spPr>
          <a:xfrm>
            <a:off x="496125" y="726525"/>
            <a:ext cx="6483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What is an Activation Function?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11" name="Google Shape;111;p27"/>
          <p:cNvSpPr/>
          <p:nvPr/>
        </p:nvSpPr>
        <p:spPr>
          <a:xfrm>
            <a:off x="496119" y="1517283"/>
            <a:ext cx="4722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Definition: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An activation function introduces non-linearity into a network, allowing it to learn complex patterns.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Purpose: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Without activation functions, a neural network would behave as a linear regression model regardless of the depth.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Concepts: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Non-Linearity: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Enables the model to capture intricate, non-linear relationships in the data.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Thresholding Behavior: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Some activation functions can “activate” (fire) only when a signal is above a certain threshold.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120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/>
          <p:nvPr/>
        </p:nvSpPr>
        <p:spPr>
          <a:xfrm>
            <a:off x="992237" y="3207841"/>
            <a:ext cx="31449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Crimson Pro SemiBold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118" name="Google Shape;118;p28"/>
          <p:cNvSpPr txBox="1"/>
          <p:nvPr/>
        </p:nvSpPr>
        <p:spPr>
          <a:xfrm>
            <a:off x="195000" y="97500"/>
            <a:ext cx="515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Types of Activation Functions 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19" name="Google Shape;119;p28"/>
          <p:cNvSpPr txBox="1"/>
          <p:nvPr/>
        </p:nvSpPr>
        <p:spPr>
          <a:xfrm>
            <a:off x="195000" y="859375"/>
            <a:ext cx="6695400" cy="4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Sigmoid: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Range:</a:t>
            </a:r>
            <a:r>
              <a:rPr lang="en" sz="1100">
                <a:solidFill>
                  <a:schemeClr val="dk1"/>
                </a:solidFill>
              </a:rPr>
              <a:t> 0 to 1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Characteristics:</a:t>
            </a:r>
            <a:r>
              <a:rPr lang="en" sz="1100">
                <a:solidFill>
                  <a:schemeClr val="dk1"/>
                </a:solidFill>
              </a:rPr>
              <a:t> Smooth curve; useful for probability estimation (commonly used in the output layer for binary classification).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Drawbacks:</a:t>
            </a:r>
            <a:r>
              <a:rPr lang="en" sz="1100">
                <a:solidFill>
                  <a:schemeClr val="dk1"/>
                </a:solidFill>
              </a:rPr>
              <a:t> Susceptible to vanishing gradients in deep networks.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Tanh (Hyperbolic Tangent):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Range:</a:t>
            </a:r>
            <a:r>
              <a:rPr lang="en" sz="1100">
                <a:solidFill>
                  <a:schemeClr val="dk1"/>
                </a:solidFill>
              </a:rPr>
              <a:t> -1 to 1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Advantages:</a:t>
            </a:r>
            <a:r>
              <a:rPr lang="en" sz="1100">
                <a:solidFill>
                  <a:schemeClr val="dk1"/>
                </a:solidFill>
              </a:rPr>
              <a:t> Zero-centered outputs, often leading to a faster convergence than sigmoid.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Drawbacks:</a:t>
            </a:r>
            <a:r>
              <a:rPr lang="en" sz="1100">
                <a:solidFill>
                  <a:schemeClr val="dk1"/>
                </a:solidFill>
              </a:rPr>
              <a:t> Still prone to saturation and vanishing gradients for extreme values.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ReLU (Rectified Linear Unit):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Behavior:</a:t>
            </a:r>
            <a:r>
              <a:rPr lang="en" sz="1100">
                <a:solidFill>
                  <a:schemeClr val="dk1"/>
                </a:solidFill>
              </a:rPr>
              <a:t> Outputs zero for negative inputs and a linear function for positive inputs.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Benefits: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Computationally efficient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Helps mitigate vanishing gradients in deep networks.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Potential Issue:</a:t>
            </a:r>
            <a:r>
              <a:rPr lang="en" sz="1100">
                <a:solidFill>
                  <a:schemeClr val="dk1"/>
                </a:solidFill>
              </a:rPr>
              <a:t> Can lead to “dying ReLU” when neurons output zero too often.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0" name="Google Shape;12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8200" y="1787624"/>
            <a:ext cx="2875800" cy="335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/>
          <p:nvPr/>
        </p:nvSpPr>
        <p:spPr>
          <a:xfrm>
            <a:off x="421772" y="331450"/>
            <a:ext cx="5808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300"/>
              <a:buFont typeface="Crimson Pro SemiBold"/>
              <a:buNone/>
            </a:pPr>
            <a:r>
              <a:rPr b="1" lang="en" sz="23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ReLU vs. Sigmoid – Which to Use When?</a:t>
            </a:r>
            <a:endParaRPr b="0" i="0" sz="2300" u="none" cap="none" strike="noStrike"/>
          </a:p>
        </p:txBody>
      </p:sp>
      <p:sp>
        <p:nvSpPr>
          <p:cNvPr id="127" name="Google Shape;127;p29"/>
          <p:cNvSpPr txBox="1"/>
          <p:nvPr/>
        </p:nvSpPr>
        <p:spPr>
          <a:xfrm>
            <a:off x="421775" y="958825"/>
            <a:ext cx="4599900" cy="27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When to Use ReLU: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You’re dealing with deep networks where vanishing gradients are a concern.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Faster convergence is desired.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Sparsity in activation is beneficial.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When to Use Sigmoid: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 the output layer for binary classification tasks (interpretable as probabilities).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 architectures where the output naturally lies within the 0–1 range.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/>
          <p:nvPr/>
        </p:nvSpPr>
        <p:spPr>
          <a:xfrm>
            <a:off x="496125" y="169925"/>
            <a:ext cx="6898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What is a Loss Function?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34" name="Google Shape;134;p30"/>
          <p:cNvSpPr txBox="1"/>
          <p:nvPr/>
        </p:nvSpPr>
        <p:spPr>
          <a:xfrm>
            <a:off x="496125" y="869475"/>
            <a:ext cx="4460400" cy="29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Core Idea: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Definition: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 loss function measures the difference between the network’s predictions and the actual target values.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Purpose: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It provides a signal (error) to update weights during training.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Analogy: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Think of it as the “cost” or “penalty” for having inaccurate predictions.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1"/>
          <p:cNvSpPr txBox="1"/>
          <p:nvPr/>
        </p:nvSpPr>
        <p:spPr>
          <a:xfrm>
            <a:off x="292525" y="91350"/>
            <a:ext cx="51516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Common Loss Functions: MSE &amp; Cross-Entropy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41" name="Google Shape;141;p31"/>
          <p:cNvSpPr txBox="1"/>
          <p:nvPr/>
        </p:nvSpPr>
        <p:spPr>
          <a:xfrm>
            <a:off x="292525" y="1263000"/>
            <a:ext cx="49647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Mean Squared Error (MSE):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Use:</a:t>
            </a:r>
            <a:r>
              <a:rPr lang="en" sz="1100">
                <a:solidFill>
                  <a:schemeClr val="dk1"/>
                </a:solidFill>
              </a:rPr>
              <a:t> Primarily for regression tasks.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Formula:</a:t>
            </a:r>
            <a:r>
              <a:rPr lang="en" sz="1100">
                <a:solidFill>
                  <a:schemeClr val="dk1"/>
                </a:solidFill>
              </a:rPr>
              <a:t> Average of squared differences between predictions and actual values.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Intuition:</a:t>
            </a:r>
            <a:r>
              <a:rPr lang="en" sz="1100">
                <a:solidFill>
                  <a:schemeClr val="dk1"/>
                </a:solidFill>
              </a:rPr>
              <a:t> Penalizes larger errors more severely.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Cross-Entropy Loss: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Use:</a:t>
            </a:r>
            <a:r>
              <a:rPr lang="en" sz="1100">
                <a:solidFill>
                  <a:schemeClr val="dk1"/>
                </a:solidFill>
              </a:rPr>
              <a:t> Widely used in classification tasks.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Function:</a:t>
            </a:r>
            <a:r>
              <a:rPr lang="en" sz="1100">
                <a:solidFill>
                  <a:schemeClr val="dk1"/>
                </a:solidFill>
              </a:rPr>
              <a:t> Measures the dissimilarity between two probability distributions (the predicted probabilities vs. the true labels).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Intuition:</a:t>
            </a:r>
            <a:r>
              <a:rPr lang="en" sz="1100">
                <a:solidFill>
                  <a:schemeClr val="dk1"/>
                </a:solidFill>
              </a:rPr>
              <a:t> High penalty for confident but wrong predictions.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"/>
          <p:cNvSpPr/>
          <p:nvPr/>
        </p:nvSpPr>
        <p:spPr>
          <a:xfrm>
            <a:off x="390500" y="352850"/>
            <a:ext cx="579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What Loss Tells Us About a Model</a:t>
            </a:r>
            <a:endParaRPr b="1" sz="1700">
              <a:solidFill>
                <a:srgbClr val="05192D"/>
              </a:solidFill>
              <a:highlight>
                <a:srgbClr val="FFFFFF"/>
              </a:highlight>
            </a:endParaRPr>
          </a:p>
        </p:txBody>
      </p:sp>
      <p:sp>
        <p:nvSpPr>
          <p:cNvPr id="148" name="Google Shape;148;p32"/>
          <p:cNvSpPr txBox="1"/>
          <p:nvPr/>
        </p:nvSpPr>
        <p:spPr>
          <a:xfrm>
            <a:off x="390500" y="1283850"/>
            <a:ext cx="4809900" cy="28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Indicator of Performance: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high loss indicates that predictions deviate significantly from true targets, while a low loss suggests better performance.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Training Process: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goal is to iteratively adjust weights to minimize the loss, thereby improving model predictions.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Overfitting &amp; Underfitting: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Too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high loss on training data might indicate underfitting.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low training loss but high validation loss can point to overfitting.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/>
          <p:nvPr/>
        </p:nvSpPr>
        <p:spPr>
          <a:xfrm>
            <a:off x="496126" y="749275"/>
            <a:ext cx="764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Backpropagation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55" name="Google Shape;155;p33"/>
          <p:cNvSpPr txBox="1"/>
          <p:nvPr/>
        </p:nvSpPr>
        <p:spPr>
          <a:xfrm>
            <a:off x="496125" y="1251350"/>
            <a:ext cx="461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496125" y="1438225"/>
            <a:ext cx="42168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Concept: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Backpropagation is the method through which neural networks learn by updating weights based on the error.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Simplified Process: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First, compute the error at the output.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Then “send” this error backward through the network.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Analogy: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Imagine a factory assembly line where each station (layer) adjusts its output based on feedback from the quality control (loss measurement).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/>
          <p:nvPr/>
        </p:nvSpPr>
        <p:spPr>
          <a:xfrm>
            <a:off x="496125" y="432950"/>
            <a:ext cx="674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Step-by-Step: How Backpropagation Works</a:t>
            </a:r>
            <a:endParaRPr b="0" i="0" sz="2800" u="none" cap="none" strike="noStrike"/>
          </a:p>
        </p:txBody>
      </p:sp>
      <p:sp>
        <p:nvSpPr>
          <p:cNvPr id="163" name="Google Shape;163;p34"/>
          <p:cNvSpPr txBox="1"/>
          <p:nvPr/>
        </p:nvSpPr>
        <p:spPr>
          <a:xfrm>
            <a:off x="496125" y="1279700"/>
            <a:ext cx="4899300" cy="3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Forward Pass: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Input data is passed through the network to generate an output.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Loss Computation: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The loss function measures how far the output is from the target.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Backward Pass (Error Propagation):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Use the chain rule to compute gradients – determine how each weight contributes to the error.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Weight Update: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Adjust weights using an optimization algorithm (e.g., gradient descent) to reduce error.</a:t>
            </a:r>
            <a:br>
              <a:rPr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/>
          <p:nvPr/>
        </p:nvSpPr>
        <p:spPr>
          <a:xfrm>
            <a:off x="496125" y="432950"/>
            <a:ext cx="674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Gradient Descent: Finding the Minimum</a:t>
            </a:r>
            <a:endParaRPr b="0" i="0" sz="2800" u="none" cap="none" strike="noStrike"/>
          </a:p>
        </p:txBody>
      </p:sp>
      <p:sp>
        <p:nvSpPr>
          <p:cNvPr id="170" name="Google Shape;170;p35"/>
          <p:cNvSpPr txBox="1"/>
          <p:nvPr/>
        </p:nvSpPr>
        <p:spPr>
          <a:xfrm>
            <a:off x="496125" y="1279700"/>
            <a:ext cx="4899300" cy="24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Concept: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Gradient descent is an iterative optimization technique used to minimize the loss function.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Mechanism: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At each iteration, the algorithm moves the weight parameters in the direction opposite to the gradient (i.e., downhill on the loss surface).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Visualization: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Picture a ball rolling down a hill, gradually finding the lowest point.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6"/>
          <p:cNvSpPr/>
          <p:nvPr/>
        </p:nvSpPr>
        <p:spPr>
          <a:xfrm>
            <a:off x="333625" y="504375"/>
            <a:ext cx="6483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Learning Rate and Optimization Strategies</a:t>
            </a:r>
            <a:endParaRPr b="0" i="0" sz="2800" u="none" cap="none" strike="noStrike"/>
          </a:p>
        </p:txBody>
      </p:sp>
      <p:sp>
        <p:nvSpPr>
          <p:cNvPr id="177" name="Google Shape;177;p36"/>
          <p:cNvSpPr txBox="1"/>
          <p:nvPr/>
        </p:nvSpPr>
        <p:spPr>
          <a:xfrm>
            <a:off x="333625" y="1332600"/>
            <a:ext cx="5240400" cy="42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Learning Rate: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Definition:</a:t>
            </a:r>
            <a:endParaRPr b="1"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A hyperparameter that determines the size of the steps taken in gradient descent.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Trade-offs:</a:t>
            </a:r>
            <a:endParaRPr b="1"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Too high: Risk overshooting the minimum.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Too low: Convergence can be very slow.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Optimization Algorithms: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Stochastic Gradient Descent (SGD):</a:t>
            </a:r>
            <a:endParaRPr b="1"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Updates parameters using a subset (mini-batch) of training data.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Advanced Methods (e.g., Adam, RMSprop):</a:t>
            </a:r>
            <a:endParaRPr b="1"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Incorporate momentum and adaptive learning rates to speed up and stabilize training.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7"/>
          <p:cNvSpPr/>
          <p:nvPr/>
        </p:nvSpPr>
        <p:spPr>
          <a:xfrm>
            <a:off x="496125" y="478250"/>
            <a:ext cx="5663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Addressing Training Challenges: Vanishing/Exploding Gradients</a:t>
            </a:r>
            <a:endParaRPr b="0" i="0" sz="2800" u="none" cap="none" strike="noStrike"/>
          </a:p>
        </p:txBody>
      </p:sp>
      <p:sp>
        <p:nvSpPr>
          <p:cNvPr id="184" name="Google Shape;184;p37"/>
          <p:cNvSpPr txBox="1"/>
          <p:nvPr/>
        </p:nvSpPr>
        <p:spPr>
          <a:xfrm>
            <a:off x="496125" y="1797175"/>
            <a:ext cx="5736300" cy="31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Vanishing Gradients: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Problem:</a:t>
            </a:r>
            <a:endParaRPr b="1"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Gradients become very small, causing minimal weight updates—commonly seen with saturating activations (like Sigmoid/Tanh) in deep networks.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Exploding Gradients: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Problem:</a:t>
            </a:r>
            <a:endParaRPr b="1"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chemeClr val="dk1"/>
                </a:solidFill>
              </a:rPr>
              <a:t>Gradients become extremely large, leading to unstable updates and potential divergence.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Mitigation Techniques: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activation functions like ReLU to help prevent vanishing gradients.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Implement gradient clipping and careful weight initialization.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/>
          <p:nvPr/>
        </p:nvSpPr>
        <p:spPr>
          <a:xfrm>
            <a:off x="343724" y="478250"/>
            <a:ext cx="641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Visual Walkthrough of a Forward and Backward Pass</a:t>
            </a:r>
            <a:b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</a:b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91" name="Google Shape;191;p38"/>
          <p:cNvSpPr txBox="1"/>
          <p:nvPr/>
        </p:nvSpPr>
        <p:spPr>
          <a:xfrm>
            <a:off x="343725" y="1701975"/>
            <a:ext cx="6758100" cy="3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Forward Pass: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Input features are multiplied by weights, biases are added, and activation functions are applied sequentially across layers.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Loss Calculation: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network’s output is compared against the target values using a loss function.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Backward Pass: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computed loss is propagated backward, layer by layer, calculating gradients for each weight.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Weight Update: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All weights are updated simultaneously using gradient descent or an alternative optimization method.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0"/>
          <p:cNvSpPr txBox="1"/>
          <p:nvPr/>
        </p:nvSpPr>
        <p:spPr>
          <a:xfrm>
            <a:off x="446900" y="316900"/>
            <a:ext cx="385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Mini Quiz Questions:</a:t>
            </a:r>
            <a:endParaRPr b="1" sz="1700">
              <a:solidFill>
                <a:srgbClr val="05192D"/>
              </a:solidFill>
              <a:highlight>
                <a:schemeClr val="lt1"/>
              </a:highlight>
            </a:endParaRPr>
          </a:p>
        </p:txBody>
      </p:sp>
      <p:sp>
        <p:nvSpPr>
          <p:cNvPr id="203" name="Google Shape;203;p40"/>
          <p:cNvSpPr txBox="1"/>
          <p:nvPr/>
        </p:nvSpPr>
        <p:spPr>
          <a:xfrm>
            <a:off x="1464000" y="1713300"/>
            <a:ext cx="62160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</a:rPr>
              <a:t>What purpose do activation functions serve in a neural network?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</a:rPr>
              <a:t>In what scenarios would you prefer ReLU over Sigmoid?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</a:rPr>
              <a:t>Explain the difference between Mean Squared Error and Cross-Entropy Loss.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>
                <a:solidFill>
                  <a:schemeClr val="dk1"/>
                </a:solidFill>
              </a:rPr>
              <a:t>How does backpropagation enable a network to “learn” from its mistakes?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