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Roboto Mono"/>
      <p:regular r:id="rId20"/>
      <p:bold r:id="rId21"/>
      <p:italic r:id="rId22"/>
      <p:boldItalic r:id="rId23"/>
    </p:embeddedFont>
    <p:embeddedFont>
      <p:font typeface="Crimson Pro SemiBold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regular.fntdata"/><Relationship Id="rId22" Type="http://schemas.openxmlformats.org/officeDocument/2006/relationships/font" Target="fonts/RobotoMono-italic.fntdata"/><Relationship Id="rId21" Type="http://schemas.openxmlformats.org/officeDocument/2006/relationships/font" Target="fonts/RobotoMono-bold.fntdata"/><Relationship Id="rId24" Type="http://schemas.openxmlformats.org/officeDocument/2006/relationships/font" Target="fonts/CrimsonProSemiBold-regular.fntdata"/><Relationship Id="rId23" Type="http://schemas.openxmlformats.org/officeDocument/2006/relationships/font" Target="fonts/RobotoMon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CrimsonProSemiBold-italic.fntdata"/><Relationship Id="rId25" Type="http://schemas.openxmlformats.org/officeDocument/2006/relationships/font" Target="fonts/CrimsonProSemiBold-bold.fntdata"/><Relationship Id="rId27" Type="http://schemas.openxmlformats.org/officeDocument/2006/relationships/font" Target="fonts/CrimsonProSemiBold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ab751390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ab751390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30c7e80f6_2_30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430c7e80f6_2_30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7" name="Google Shape;107;g3430c7e80f6_2_30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30c7e80f6_2_43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430c7e80f6_2_43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4" name="Google Shape;114;g3430c7e80f6_2_43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30c7e80f6_2_56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430c7e80f6_2_56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23" name="Google Shape;123;g3430c7e80f6_2_56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434be1ecb3_1_0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434be1ecb3_1_0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31" name="Google Shape;131;g3434be1ecb3_1_0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3f4c77d8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43f4c77d8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430c7e80f6_4_79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430c7e80f6_4_79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48" name="Google Shape;148;g3430c7e80f6_4_79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30c7e80f6_2_87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430c7e80f6_2_87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56" name="Google Shape;156;g3430c7e80f6_2_87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430c7e80f6_2_99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430c7e80f6_2_99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65" name="Google Shape;165;g3430c7e80f6_2_99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30c7e80f6_2_113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430c7e80f6_2_113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72" name="Google Shape;172;g3430c7e80f6_2_113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430c7e80f6_4_41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430c7e80f6_4_41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80" name="Google Shape;180;g3430c7e80f6_4_41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30c7e80f6_4_49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430c7e80f6_4_49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87" name="Google Shape;187;g3430c7e80f6_4_49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2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2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2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&amp; Train a Feedforward Neural Network</a:t>
            </a:r>
            <a:endParaRPr sz="3500"/>
          </a:p>
        </p:txBody>
      </p:sp>
      <p:sp>
        <p:nvSpPr>
          <p:cNvPr id="97" name="Google Shape;97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6 - Day 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 txBox="1"/>
          <p:nvPr/>
        </p:nvSpPr>
        <p:spPr>
          <a:xfrm>
            <a:off x="333150" y="60850"/>
            <a:ext cx="619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Recap – What We've Learned So Far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03" name="Google Shape;103;p26"/>
          <p:cNvSpPr txBox="1"/>
          <p:nvPr/>
        </p:nvSpPr>
        <p:spPr>
          <a:xfrm>
            <a:off x="333150" y="1138925"/>
            <a:ext cx="4794000" cy="18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Neural networks: structure, layers, perceptrons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Activations, loss, backpropagation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PyTorch framework basics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GPU acceleration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7"/>
          <p:cNvSpPr/>
          <p:nvPr/>
        </p:nvSpPr>
        <p:spPr>
          <a:xfrm>
            <a:off x="496125" y="726525"/>
            <a:ext cx="64839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Dataset Overview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10" name="Google Shape;110;p27"/>
          <p:cNvSpPr/>
          <p:nvPr/>
        </p:nvSpPr>
        <p:spPr>
          <a:xfrm>
            <a:off x="496119" y="1517283"/>
            <a:ext cx="47229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Choose a dataset that’s: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Simple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Tabular or image-based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Not too large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Example Options: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Iris (tabular, 3-class classification)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MNIST (images, 10-class classification)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Wine Quality (regression)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8"/>
          <p:cNvSpPr/>
          <p:nvPr/>
        </p:nvSpPr>
        <p:spPr>
          <a:xfrm>
            <a:off x="992237" y="3207841"/>
            <a:ext cx="31449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400"/>
              <a:buFont typeface="Crimson Pro SemiBold"/>
              <a:buNone/>
            </a:pPr>
            <a:r>
              <a:t/>
            </a:r>
            <a:endParaRPr b="0" i="0" sz="1400" u="none" cap="none" strike="noStrike"/>
          </a:p>
        </p:txBody>
      </p:sp>
      <p:sp>
        <p:nvSpPr>
          <p:cNvPr id="117" name="Google Shape;117;p28"/>
          <p:cNvSpPr txBox="1"/>
          <p:nvPr/>
        </p:nvSpPr>
        <p:spPr>
          <a:xfrm>
            <a:off x="195000" y="97500"/>
            <a:ext cx="5159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Data Preprocessing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18" name="Google Shape;118;p28"/>
          <p:cNvSpPr txBox="1"/>
          <p:nvPr/>
        </p:nvSpPr>
        <p:spPr>
          <a:xfrm>
            <a:off x="195000" y="859375"/>
            <a:ext cx="5281800" cy="18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Load data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Encode labels (e.g., using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LabelEncoder</a:t>
            </a:r>
            <a:r>
              <a:rPr lang="en" sz="1100">
                <a:solidFill>
                  <a:schemeClr val="dk1"/>
                </a:solidFill>
              </a:rPr>
              <a:t>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Normalize features (StandardScaler)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Split into training and test sets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19" name="Google Shape;11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300" y="2825941"/>
            <a:ext cx="6210300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9"/>
          <p:cNvSpPr/>
          <p:nvPr/>
        </p:nvSpPr>
        <p:spPr>
          <a:xfrm>
            <a:off x="421772" y="331450"/>
            <a:ext cx="58086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300"/>
              <a:buFont typeface="Crimson Pro SemiBold"/>
              <a:buNone/>
            </a:pPr>
            <a:r>
              <a:rPr b="1" lang="en" sz="23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Convert to PyTorch Tensors</a:t>
            </a:r>
            <a:endParaRPr b="1" sz="23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pic>
        <p:nvPicPr>
          <p:cNvPr id="126" name="Google Shape;12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775" y="1567275"/>
            <a:ext cx="5629275" cy="192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9"/>
          <p:cNvSpPr txBox="1"/>
          <p:nvPr/>
        </p:nvSpPr>
        <p:spPr>
          <a:xfrm>
            <a:off x="421775" y="3645725"/>
            <a:ext cx="4306500" cy="11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Why DataLoader?</a:t>
            </a:r>
            <a:endParaRPr sz="1200"/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200"/>
              <a:t>Efficient batching</a:t>
            </a:r>
            <a:endParaRPr sz="12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200"/>
              <a:t>Shuffling</a:t>
            </a:r>
            <a:endParaRPr sz="12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200"/>
              <a:t>Easy iteration during training</a:t>
            </a: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/>
          <p:nvPr/>
        </p:nvSpPr>
        <p:spPr>
          <a:xfrm>
            <a:off x="496125" y="169925"/>
            <a:ext cx="6898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Define Model Architecture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pic>
        <p:nvPicPr>
          <p:cNvPr id="134" name="Google Shape;13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125" y="1399200"/>
            <a:ext cx="4352925" cy="26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0"/>
          <p:cNvSpPr txBox="1"/>
          <p:nvPr/>
        </p:nvSpPr>
        <p:spPr>
          <a:xfrm>
            <a:off x="5054125" y="1991400"/>
            <a:ext cx="3000000" cy="11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Structure:</a:t>
            </a:r>
            <a:endParaRPr sz="1200"/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200"/>
              <a:t>Input: 4 features</a:t>
            </a:r>
            <a:endParaRPr sz="12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200"/>
              <a:t>Hidden: 16 neurons, ReLU</a:t>
            </a:r>
            <a:endParaRPr sz="12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200"/>
              <a:t>Output: 3 classes</a:t>
            </a:r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1"/>
          <p:cNvSpPr txBox="1"/>
          <p:nvPr/>
        </p:nvSpPr>
        <p:spPr>
          <a:xfrm>
            <a:off x="292525" y="91350"/>
            <a:ext cx="5151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Set Up Loss &amp; Optimizer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42" name="Google Shape;142;p31"/>
          <p:cNvSpPr txBox="1"/>
          <p:nvPr/>
        </p:nvSpPr>
        <p:spPr>
          <a:xfrm>
            <a:off x="292525" y="1263000"/>
            <a:ext cx="4964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43" name="Google Shape;143;p31"/>
          <p:cNvSpPr txBox="1"/>
          <p:nvPr/>
        </p:nvSpPr>
        <p:spPr>
          <a:xfrm>
            <a:off x="883700" y="3051150"/>
            <a:ext cx="4056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Cross Entropy Loss</a:t>
            </a:r>
            <a:r>
              <a:rPr lang="en" sz="1200"/>
              <a:t> for multi-class classification</a:t>
            </a:r>
            <a:br>
              <a:rPr lang="en" sz="1200"/>
            </a:b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Adam optimizer is</a:t>
            </a:r>
            <a:r>
              <a:rPr lang="en" sz="1200"/>
              <a:t> great for beginners</a:t>
            </a:r>
            <a:endParaRPr sz="1200"/>
          </a:p>
        </p:txBody>
      </p:sp>
      <p:pic>
        <p:nvPicPr>
          <p:cNvPr id="144" name="Google Shape;14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3700" y="1357600"/>
            <a:ext cx="5876925" cy="9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/>
          <p:nvPr/>
        </p:nvSpPr>
        <p:spPr>
          <a:xfrm>
            <a:off x="390500" y="352850"/>
            <a:ext cx="5791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Training Loop (Forward + Backward)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t/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pic>
        <p:nvPicPr>
          <p:cNvPr id="151" name="Google Shape;15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500" y="1460275"/>
            <a:ext cx="4257675" cy="199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2"/>
          <p:cNvSpPr txBox="1"/>
          <p:nvPr/>
        </p:nvSpPr>
        <p:spPr>
          <a:xfrm>
            <a:off x="390500" y="3672775"/>
            <a:ext cx="30000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loss.backward()</a:t>
            </a:r>
            <a:r>
              <a:rPr lang="en" sz="1100">
                <a:solidFill>
                  <a:schemeClr val="dk1"/>
                </a:solidFill>
              </a:rPr>
              <a:t>: compute gradients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optimizer.step()</a:t>
            </a:r>
            <a:r>
              <a:rPr lang="en" sz="1100">
                <a:solidFill>
                  <a:schemeClr val="dk1"/>
                </a:solidFill>
              </a:rPr>
              <a:t>: update weights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zero_grad()</a:t>
            </a:r>
            <a:r>
              <a:rPr lang="en" sz="1100">
                <a:solidFill>
                  <a:schemeClr val="dk1"/>
                </a:solidFill>
              </a:rPr>
              <a:t>: clear previous gradients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3"/>
          <p:cNvSpPr/>
          <p:nvPr/>
        </p:nvSpPr>
        <p:spPr>
          <a:xfrm>
            <a:off x="496126" y="749275"/>
            <a:ext cx="7640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Monitoring the Loss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t/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59" name="Google Shape;159;p33"/>
          <p:cNvSpPr txBox="1"/>
          <p:nvPr/>
        </p:nvSpPr>
        <p:spPr>
          <a:xfrm>
            <a:off x="496125" y="1251350"/>
            <a:ext cx="461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60" name="Google Shape;16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125" y="2050275"/>
            <a:ext cx="428625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4775" y="1757750"/>
            <a:ext cx="4056825" cy="2658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4"/>
          <p:cNvSpPr/>
          <p:nvPr/>
        </p:nvSpPr>
        <p:spPr>
          <a:xfrm>
            <a:off x="496125" y="432950"/>
            <a:ext cx="6743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Evaluating Model Accuracy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t/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t/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pic>
        <p:nvPicPr>
          <p:cNvPr id="168" name="Google Shape;16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125" y="1240775"/>
            <a:ext cx="4720500" cy="278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5"/>
          <p:cNvSpPr/>
          <p:nvPr/>
        </p:nvSpPr>
        <p:spPr>
          <a:xfrm>
            <a:off x="496125" y="432950"/>
            <a:ext cx="6743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Confusion Matrix</a:t>
            </a:r>
            <a:endParaRPr b="0" i="0" sz="2800" u="none" cap="none" strike="noStrike"/>
          </a:p>
        </p:txBody>
      </p:sp>
      <p:pic>
        <p:nvPicPr>
          <p:cNvPr id="175" name="Google Shape;17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125" y="1346425"/>
            <a:ext cx="5972175" cy="9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3687" y="2527700"/>
            <a:ext cx="4650313" cy="261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6"/>
          <p:cNvSpPr/>
          <p:nvPr/>
        </p:nvSpPr>
        <p:spPr>
          <a:xfrm>
            <a:off x="333625" y="504375"/>
            <a:ext cx="64839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Experiment – Tweak Your Model</a:t>
            </a:r>
            <a:endParaRPr b="0" i="0" sz="2800" u="none" cap="none" strike="noStrike"/>
          </a:p>
        </p:txBody>
      </p:sp>
      <p:sp>
        <p:nvSpPr>
          <p:cNvPr id="183" name="Google Shape;183;p36"/>
          <p:cNvSpPr txBox="1"/>
          <p:nvPr/>
        </p:nvSpPr>
        <p:spPr>
          <a:xfrm>
            <a:off x="333625" y="1441650"/>
            <a:ext cx="3000000" cy="22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Try: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More layers (add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fc3</a:t>
            </a:r>
            <a:r>
              <a:rPr lang="en" sz="1100">
                <a:solidFill>
                  <a:schemeClr val="dk1"/>
                </a:solidFill>
              </a:rPr>
              <a:t>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Different activation (e.g.,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nn.Tanh</a:t>
            </a:r>
            <a:r>
              <a:rPr lang="en" sz="1100">
                <a:solidFill>
                  <a:schemeClr val="dk1"/>
                </a:solidFill>
              </a:rPr>
              <a:t>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Learning rate change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Batch size tuning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Add dropout layer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7"/>
          <p:cNvSpPr/>
          <p:nvPr/>
        </p:nvSpPr>
        <p:spPr>
          <a:xfrm>
            <a:off x="496125" y="478250"/>
            <a:ext cx="56631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Saving &amp; Loading Models</a:t>
            </a:r>
            <a:endParaRPr b="0" i="0" sz="2800" u="none" cap="none" strike="noStrike"/>
          </a:p>
        </p:txBody>
      </p:sp>
      <p:pic>
        <p:nvPicPr>
          <p:cNvPr id="190" name="Google Shape;19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175" y="1919288"/>
            <a:ext cx="5276850" cy="130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