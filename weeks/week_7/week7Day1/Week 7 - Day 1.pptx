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Roboto Mono"/>
      <p:regular r:id="rId20"/>
      <p:bold r:id="rId21"/>
      <p:italic r:id="rId22"/>
      <p:boldItalic r:id="rId23"/>
    </p:embeddedFont>
    <p:embeddedFont>
      <p:font typeface="Crimson Pro SemiBold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regular.fntdata"/><Relationship Id="rId22" Type="http://schemas.openxmlformats.org/officeDocument/2006/relationships/font" Target="fonts/RobotoMono-italic.fntdata"/><Relationship Id="rId21" Type="http://schemas.openxmlformats.org/officeDocument/2006/relationships/font" Target="fonts/RobotoMono-bold.fntdata"/><Relationship Id="rId24" Type="http://schemas.openxmlformats.org/officeDocument/2006/relationships/font" Target="fonts/CrimsonProSemiBold-regular.fntdata"/><Relationship Id="rId23" Type="http://schemas.openxmlformats.org/officeDocument/2006/relationships/font" Target="fonts/RobotoMon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CrimsonProSemiBold-italic.fntdata"/><Relationship Id="rId25" Type="http://schemas.openxmlformats.org/officeDocument/2006/relationships/font" Target="fonts/CrimsonProSemiBold-bold.fntdata"/><Relationship Id="rId27" Type="http://schemas.openxmlformats.org/officeDocument/2006/relationships/font" Target="fonts/CrimsonProSemiBold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ab751390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ab751390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30c7e80f6_2_30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430c7e80f6_2_30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7" name="Google Shape;107;g3430c7e80f6_2_30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434be1ecb3_1_0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434be1ecb3_1_0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15" name="Google Shape;115;g3434be1ecb3_1_0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30c7e80f6_2_43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430c7e80f6_2_43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22" name="Google Shape;122;g3430c7e80f6_2_43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430c7e80f6_2_56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430c7e80f6_2_56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30" name="Google Shape;130;g3430c7e80f6_2_56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43f4c77d8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43f4c77d8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430c7e80f6_4_79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430c7e80f6_4_79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45" name="Google Shape;145;g3430c7e80f6_4_79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430c7e80f6_2_87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430c7e80f6_2_87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52" name="Google Shape;152;g3430c7e80f6_2_87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430c7e80f6_2_99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430c7e80f6_2_99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60" name="Google Shape;160;g3430c7e80f6_2_99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4a517d2809_0_38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4a517d2809_0_38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69" name="Google Shape;169;g34a517d2809_0_38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430c7e80f6_2_113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430c7e80f6_2_113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78" name="Google Shape;178;g3430c7e80f6_2_113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430c7e80f6_4_41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430c7e80f6_4_41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85" name="Google Shape;185;g3430c7e80f6_4_41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" name="Google Shape;78;p2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2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2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2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CNN Structure &amp; Filters</a:t>
            </a:r>
            <a:endParaRPr sz="3500"/>
          </a:p>
        </p:txBody>
      </p:sp>
      <p:sp>
        <p:nvSpPr>
          <p:cNvPr id="97" name="Google Shape;97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7 - Day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6"/>
          <p:cNvSpPr txBox="1"/>
          <p:nvPr/>
        </p:nvSpPr>
        <p:spPr>
          <a:xfrm>
            <a:off x="333150" y="60850"/>
            <a:ext cx="6191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What Makes CNNs Special for Images?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03" name="Google Shape;103;p26"/>
          <p:cNvSpPr txBox="1"/>
          <p:nvPr/>
        </p:nvSpPr>
        <p:spPr>
          <a:xfrm>
            <a:off x="333150" y="1138925"/>
            <a:ext cx="4794000" cy="21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Traditional neural networks flatten image input → lose spatial structure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CNNs preserve spatial relationships using: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Local connections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Shared weights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Hierarchical learning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7"/>
          <p:cNvSpPr/>
          <p:nvPr/>
        </p:nvSpPr>
        <p:spPr>
          <a:xfrm>
            <a:off x="496125" y="726525"/>
            <a:ext cx="64839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What is a Convolutional Layer?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10" name="Google Shape;110;p27"/>
          <p:cNvSpPr/>
          <p:nvPr/>
        </p:nvSpPr>
        <p:spPr>
          <a:xfrm>
            <a:off x="496119" y="1517283"/>
            <a:ext cx="47229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 </a:t>
            </a:r>
            <a:r>
              <a:rPr b="1" lang="en" sz="1100">
                <a:solidFill>
                  <a:schemeClr val="dk1"/>
                </a:solidFill>
              </a:rPr>
              <a:t>filter/kernel</a:t>
            </a:r>
            <a:r>
              <a:rPr lang="en" sz="1100">
                <a:solidFill>
                  <a:schemeClr val="dk1"/>
                </a:solidFill>
              </a:rPr>
              <a:t> slides across the input image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Computes a </a:t>
            </a:r>
            <a:r>
              <a:rPr b="1" lang="en" sz="1100">
                <a:solidFill>
                  <a:schemeClr val="dk1"/>
                </a:solidFill>
              </a:rPr>
              <a:t>dot product</a:t>
            </a:r>
            <a:r>
              <a:rPr lang="en" sz="1100">
                <a:solidFill>
                  <a:schemeClr val="dk1"/>
                </a:solidFill>
              </a:rPr>
              <a:t> between filter &amp; image patch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Output = </a:t>
            </a:r>
            <a:r>
              <a:rPr b="1" lang="en" sz="1100">
                <a:solidFill>
                  <a:schemeClr val="dk1"/>
                </a:solidFill>
              </a:rPr>
              <a:t>Feature Map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11" name="Google Shape;11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675" y="3017108"/>
            <a:ext cx="5772150" cy="101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/>
          <p:nvPr/>
        </p:nvSpPr>
        <p:spPr>
          <a:xfrm>
            <a:off x="496125" y="169925"/>
            <a:ext cx="6898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Understanding Filters (Kernels)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18" name="Google Shape;118;p28"/>
          <p:cNvSpPr txBox="1"/>
          <p:nvPr/>
        </p:nvSpPr>
        <p:spPr>
          <a:xfrm>
            <a:off x="496125" y="1202600"/>
            <a:ext cx="4572000" cy="24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Filters are small (e.g., 3x3, 5x5)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Learn to detect </a:t>
            </a:r>
            <a:r>
              <a:rPr b="1" lang="en" sz="1100">
                <a:solidFill>
                  <a:schemeClr val="dk1"/>
                </a:solidFill>
              </a:rPr>
              <a:t>edges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b="1" lang="en" sz="1100">
                <a:solidFill>
                  <a:schemeClr val="dk1"/>
                </a:solidFill>
              </a:rPr>
              <a:t>textures</a:t>
            </a:r>
            <a:r>
              <a:rPr lang="en" sz="1100">
                <a:solidFill>
                  <a:schemeClr val="dk1"/>
                </a:solidFill>
              </a:rPr>
              <a:t>, or </a:t>
            </a:r>
            <a:r>
              <a:rPr b="1" lang="en" sz="1100">
                <a:solidFill>
                  <a:schemeClr val="dk1"/>
                </a:solidFill>
              </a:rPr>
              <a:t>shapes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CNNs learn multiple filters per layer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🧪 Example: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1st layer → edge detectors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3rd layer → object parts (eyes, wheels)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/>
          <p:nvPr/>
        </p:nvSpPr>
        <p:spPr>
          <a:xfrm>
            <a:off x="992237" y="3207841"/>
            <a:ext cx="31449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400"/>
              <a:buFont typeface="Crimson Pro SemiBold"/>
              <a:buNone/>
            </a:pPr>
            <a:r>
              <a:t/>
            </a:r>
            <a:endParaRPr b="0" i="0" sz="1400" u="none" cap="none" strike="noStrike"/>
          </a:p>
        </p:txBody>
      </p:sp>
      <p:sp>
        <p:nvSpPr>
          <p:cNvPr id="125" name="Google Shape;125;p29"/>
          <p:cNvSpPr txBox="1"/>
          <p:nvPr/>
        </p:nvSpPr>
        <p:spPr>
          <a:xfrm>
            <a:off x="195000" y="97500"/>
            <a:ext cx="6776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Padding – Keep Output Size </a:t>
            </a: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Manageable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pic>
        <p:nvPicPr>
          <p:cNvPr id="126" name="Google Shape;12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200" y="1353025"/>
            <a:ext cx="7619170" cy="21899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0"/>
          <p:cNvSpPr/>
          <p:nvPr/>
        </p:nvSpPr>
        <p:spPr>
          <a:xfrm>
            <a:off x="421772" y="331450"/>
            <a:ext cx="58086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300"/>
              <a:buFont typeface="Crimson Pro SemiBold"/>
              <a:buNone/>
            </a:pPr>
            <a:r>
              <a:rPr b="1" lang="en" sz="23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Stride – Control How the Filter Moves</a:t>
            </a:r>
            <a:endParaRPr b="1" sz="23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pic>
        <p:nvPicPr>
          <p:cNvPr id="133" name="Google Shape;13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450" y="1063475"/>
            <a:ext cx="6629400" cy="352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1"/>
          <p:cNvSpPr txBox="1"/>
          <p:nvPr/>
        </p:nvSpPr>
        <p:spPr>
          <a:xfrm>
            <a:off x="292525" y="91350"/>
            <a:ext cx="5151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CNN Architecture Overview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40" name="Google Shape;140;p31"/>
          <p:cNvSpPr txBox="1"/>
          <p:nvPr/>
        </p:nvSpPr>
        <p:spPr>
          <a:xfrm>
            <a:off x="292525" y="1263000"/>
            <a:ext cx="4964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41" name="Google Shape;141;p31"/>
          <p:cNvSpPr txBox="1"/>
          <p:nvPr/>
        </p:nvSpPr>
        <p:spPr>
          <a:xfrm>
            <a:off x="292525" y="1226975"/>
            <a:ext cx="4704600" cy="3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Input: Image (e.g., 32x32x3)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Conv Layer + ReLU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Pooling Layer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Repeat…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Flatten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Fully Connected Layer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Output: Class probabilities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🧱 Think of it like </a:t>
            </a:r>
            <a:r>
              <a:rPr b="1" lang="en" sz="1100">
                <a:solidFill>
                  <a:schemeClr val="dk1"/>
                </a:solidFill>
              </a:rPr>
              <a:t>feature extraction → classification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2"/>
          <p:cNvSpPr/>
          <p:nvPr/>
        </p:nvSpPr>
        <p:spPr>
          <a:xfrm>
            <a:off x="390500" y="352850"/>
            <a:ext cx="5791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CNN in Code (PyTorch)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pic>
        <p:nvPicPr>
          <p:cNvPr id="148" name="Google Shape;14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500" y="1100750"/>
            <a:ext cx="5413573" cy="257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3"/>
          <p:cNvSpPr/>
          <p:nvPr/>
        </p:nvSpPr>
        <p:spPr>
          <a:xfrm>
            <a:off x="496126" y="749275"/>
            <a:ext cx="7640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Training a CNN on MNIST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55" name="Google Shape;155;p33"/>
          <p:cNvSpPr txBox="1"/>
          <p:nvPr/>
        </p:nvSpPr>
        <p:spPr>
          <a:xfrm>
            <a:off x="496125" y="1251350"/>
            <a:ext cx="461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56" name="Google Shape;156;p33"/>
          <p:cNvSpPr txBox="1"/>
          <p:nvPr/>
        </p:nvSpPr>
        <p:spPr>
          <a:xfrm>
            <a:off x="496125" y="1421975"/>
            <a:ext cx="4972800" cy="30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MNIST:</a:t>
            </a:r>
            <a:r>
              <a:rPr lang="en" sz="1100">
                <a:solidFill>
                  <a:schemeClr val="dk1"/>
                </a:solidFill>
              </a:rPr>
              <a:t> 28x28 grayscale images of digits (0–9)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Easy dataset for beginner CNNs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Use: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Conv → Pool → ReLU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CrossEntropyLoss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Adam optimizer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Epochs:</a:t>
            </a:r>
            <a:r>
              <a:rPr lang="en" sz="1100">
                <a:solidFill>
                  <a:schemeClr val="dk1"/>
                </a:solidFill>
              </a:rPr>
              <a:t> 5–10</a:t>
            </a:r>
            <a:br>
              <a:rPr lang="en" sz="1100">
                <a:solidFill>
                  <a:schemeClr val="dk1"/>
                </a:solidFill>
              </a:rPr>
            </a:br>
            <a:r>
              <a:rPr b="1" lang="en" sz="1100">
                <a:solidFill>
                  <a:schemeClr val="dk1"/>
                </a:solidFill>
              </a:rPr>
              <a:t>Accuracy Target:</a:t>
            </a:r>
            <a:r>
              <a:rPr lang="en" sz="1100">
                <a:solidFill>
                  <a:schemeClr val="dk1"/>
                </a:solidFill>
              </a:rPr>
              <a:t> 98%+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4"/>
          <p:cNvSpPr/>
          <p:nvPr/>
        </p:nvSpPr>
        <p:spPr>
          <a:xfrm>
            <a:off x="496125" y="432950"/>
            <a:ext cx="6743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Visualizing Learned Filters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t/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t/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63" name="Google Shape;163;p34"/>
          <p:cNvSpPr txBox="1"/>
          <p:nvPr/>
        </p:nvSpPr>
        <p:spPr>
          <a:xfrm>
            <a:off x="496125" y="1405725"/>
            <a:ext cx="39243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After training, you can </a:t>
            </a:r>
            <a:r>
              <a:rPr b="1" lang="en" sz="1100">
                <a:solidFill>
                  <a:schemeClr val="dk1"/>
                </a:solidFill>
              </a:rPr>
              <a:t>inspect the filters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These show what the network “looks for”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64" name="Google Shape;16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8063" y="2290763"/>
            <a:ext cx="6143625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34"/>
          <p:cNvSpPr txBox="1"/>
          <p:nvPr/>
        </p:nvSpPr>
        <p:spPr>
          <a:xfrm>
            <a:off x="496125" y="2852750"/>
            <a:ext cx="41928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Normalize &amp; display filters (use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matplotlib</a:t>
            </a:r>
            <a:r>
              <a:rPr lang="en" sz="1100">
                <a:solidFill>
                  <a:schemeClr val="dk1"/>
                </a:solidFill>
              </a:rPr>
              <a:t>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Early layers → edge detectors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Deeper layers → abstract shapes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5"/>
          <p:cNvSpPr/>
          <p:nvPr/>
        </p:nvSpPr>
        <p:spPr>
          <a:xfrm>
            <a:off x="496125" y="432950"/>
            <a:ext cx="6743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Visualizing Activations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t/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t/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72" name="Google Shape;172;p35"/>
          <p:cNvSpPr txBox="1"/>
          <p:nvPr/>
        </p:nvSpPr>
        <p:spPr>
          <a:xfrm>
            <a:off x="496125" y="1275725"/>
            <a:ext cx="39243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Activations</a:t>
            </a:r>
            <a:r>
              <a:rPr lang="en" sz="1100">
                <a:solidFill>
                  <a:schemeClr val="dk1"/>
                </a:solidFill>
              </a:rPr>
              <a:t> = output of a layer after convolution + ReLU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Help us understand </a:t>
            </a:r>
            <a:r>
              <a:rPr b="1" lang="en" sz="1100">
                <a:solidFill>
                  <a:schemeClr val="dk1"/>
                </a:solidFill>
              </a:rPr>
              <a:t>what features</a:t>
            </a:r>
            <a:r>
              <a:rPr lang="en" sz="1100">
                <a:solidFill>
                  <a:schemeClr val="dk1"/>
                </a:solidFill>
              </a:rPr>
              <a:t> the network finds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3" name="Google Shape;173;p35"/>
          <p:cNvSpPr txBox="1"/>
          <p:nvPr/>
        </p:nvSpPr>
        <p:spPr>
          <a:xfrm>
            <a:off x="496125" y="2990875"/>
            <a:ext cx="41928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Visualize each feature map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Helps debug or explain model behavior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74" name="Google Shape;17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175" y="2224088"/>
            <a:ext cx="5476875" cy="6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6"/>
          <p:cNvSpPr/>
          <p:nvPr/>
        </p:nvSpPr>
        <p:spPr>
          <a:xfrm>
            <a:off x="496125" y="432950"/>
            <a:ext cx="6743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What Happens in Each Layer</a:t>
            </a:r>
            <a:endParaRPr b="0" i="0" sz="2800" u="none" cap="none" strike="noStrike"/>
          </a:p>
        </p:txBody>
      </p:sp>
      <p:pic>
        <p:nvPicPr>
          <p:cNvPr id="181" name="Google Shape;18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4450" y="1231575"/>
            <a:ext cx="6515100" cy="319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7"/>
          <p:cNvSpPr/>
          <p:nvPr/>
        </p:nvSpPr>
        <p:spPr>
          <a:xfrm>
            <a:off x="333625" y="504375"/>
            <a:ext cx="64839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Activity </a:t>
            </a:r>
            <a:endParaRPr b="0" i="0" sz="2800" u="none" cap="none" strike="noStrike"/>
          </a:p>
        </p:txBody>
      </p:sp>
      <p:pic>
        <p:nvPicPr>
          <p:cNvPr id="188" name="Google Shape;18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8738" y="1518300"/>
            <a:ext cx="6486525" cy="271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