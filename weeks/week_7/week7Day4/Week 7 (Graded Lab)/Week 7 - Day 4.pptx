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  <p:embeddedFont>
      <p:font typeface="Crimson Pro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4" Type="http://schemas.openxmlformats.org/officeDocument/2006/relationships/font" Target="fonts/CrimsonProSemiBold-bold.fntdata"/><Relationship Id="rId23" Type="http://schemas.openxmlformats.org/officeDocument/2006/relationships/font" Target="fonts/CrimsonPro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rimsonProSemiBold-boldItalic.fntdata"/><Relationship Id="rId25" Type="http://schemas.openxmlformats.org/officeDocument/2006/relationships/font" Target="fonts/CrimsonPro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Mon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ab75139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ab75139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30c7e80f6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430c7e80f6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" name="Google Shape;108;g3430c7e80f6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34be1ecb3_1_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434be1ecb3_1_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5" name="Google Shape;115;g3434be1ecb3_1_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30c7e80f6_2_4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430c7e80f6_2_4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2" name="Google Shape;122;g3430c7e80f6_2_4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30c7e80f6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430c7e80f6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9" name="Google Shape;129;g3430c7e80f6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3f4c77d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3f4c77d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b23f1c91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b23f1c91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b23f1c91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b23f1c91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b23f1c91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b23f1c91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b23f1c91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b23f1c91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b23f1c91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b23f1c91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Pixel-Level Understanding &amp; Real-Time Challenge</a:t>
            </a:r>
            <a:endParaRPr b="1" sz="3500"/>
          </a:p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7 - Day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/>
        </p:nvSpPr>
        <p:spPr>
          <a:xfrm>
            <a:off x="333150" y="60850"/>
            <a:ext cx="619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is Image Segmentation?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03" name="Google Shape;103;p26"/>
          <p:cNvSpPr txBox="1"/>
          <p:nvPr/>
        </p:nvSpPr>
        <p:spPr>
          <a:xfrm>
            <a:off x="333150" y="1138925"/>
            <a:ext cx="479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4" name="Google Shape;104;p26"/>
          <p:cNvSpPr txBox="1"/>
          <p:nvPr/>
        </p:nvSpPr>
        <p:spPr>
          <a:xfrm>
            <a:off x="333150" y="1259475"/>
            <a:ext cx="4924200" cy="24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Assigns a </a:t>
            </a:r>
            <a:r>
              <a:rPr b="1" lang="en" sz="1100">
                <a:solidFill>
                  <a:schemeClr val="dk1"/>
                </a:solidFill>
              </a:rPr>
              <a:t>class label to each pixel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Understands </a:t>
            </a:r>
            <a:r>
              <a:rPr b="1" lang="en" sz="1100">
                <a:solidFill>
                  <a:schemeClr val="dk1"/>
                </a:solidFill>
              </a:rPr>
              <a:t>what and where</a:t>
            </a:r>
            <a:r>
              <a:rPr lang="en" sz="1100">
                <a:solidFill>
                  <a:schemeClr val="dk1"/>
                </a:solidFill>
              </a:rPr>
              <a:t> — </a:t>
            </a:r>
            <a:r>
              <a:rPr b="1" lang="en" sz="1100">
                <a:solidFill>
                  <a:schemeClr val="dk1"/>
                </a:solidFill>
              </a:rPr>
              <a:t>per pixel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More detailed than object detection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Types: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Semantic Segmentation</a:t>
            </a:r>
            <a:r>
              <a:rPr lang="en" sz="1100">
                <a:solidFill>
                  <a:schemeClr val="dk1"/>
                </a:solidFill>
              </a:rPr>
              <a:t>: Classify regions (e.g., "road", "sky")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Instance Segmentation</a:t>
            </a:r>
            <a:r>
              <a:rPr lang="en" sz="1100">
                <a:solidFill>
                  <a:schemeClr val="dk1"/>
                </a:solidFill>
              </a:rPr>
              <a:t>: Distinguish individual objects (e.g., 2 dogs)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/>
          <p:nvPr/>
        </p:nvSpPr>
        <p:spPr>
          <a:xfrm>
            <a:off x="496125" y="72652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Use Cases of Segmentation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1" name="Google Shape;111;p27"/>
          <p:cNvSpPr/>
          <p:nvPr/>
        </p:nvSpPr>
        <p:spPr>
          <a:xfrm>
            <a:off x="496119" y="1517283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Medical imaging (tumor segmentation)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Self-driving cars (road, lanes, pedestrians)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Satellite imagery (land use classification)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Agriculture (crop/weed detection)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Augmented reality (background removal)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U-Net – A Segmentation Classic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8" name="Google Shape;118;p28"/>
          <p:cNvSpPr txBox="1"/>
          <p:nvPr/>
        </p:nvSpPr>
        <p:spPr>
          <a:xfrm>
            <a:off x="496125" y="1202600"/>
            <a:ext cx="45720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Designed for biomedical image segmentation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Encoder-decoder architecture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Skip connections</a:t>
            </a:r>
            <a:r>
              <a:rPr lang="en" sz="1100">
                <a:solidFill>
                  <a:schemeClr val="dk1"/>
                </a:solidFill>
              </a:rPr>
              <a:t> help preserve spatial info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Architecture: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Left: Downsampling path (Conv + Pool)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Right: Upsampling path (ConvTranspose)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Horizontal skip connections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/>
        </p:nvSpPr>
        <p:spPr>
          <a:xfrm>
            <a:off x="195000" y="97500"/>
            <a:ext cx="67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U-Net Architecture Explained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25" name="Google Shape;1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800" y="1109250"/>
            <a:ext cx="5657850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/>
          <p:nvPr/>
        </p:nvSpPr>
        <p:spPr>
          <a:xfrm>
            <a:off x="421772" y="331450"/>
            <a:ext cx="5808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 SemiBold"/>
              <a:buNone/>
            </a:pPr>
            <a:r>
              <a:rPr b="1" lang="en" sz="23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Running U-Net in Practice</a:t>
            </a:r>
            <a:endParaRPr b="1" sz="23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32" name="Google Shape;13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75" y="917225"/>
            <a:ext cx="5305425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1"/>
          <p:cNvSpPr txBox="1"/>
          <p:nvPr/>
        </p:nvSpPr>
        <p:spPr>
          <a:xfrm>
            <a:off x="292525" y="91350"/>
            <a:ext cx="70773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SegFormer – Transformer-based Segmentation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39" name="Google Shape;139;p31"/>
          <p:cNvSpPr txBox="1"/>
          <p:nvPr/>
        </p:nvSpPr>
        <p:spPr>
          <a:xfrm>
            <a:off x="292525" y="1263000"/>
            <a:ext cx="496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292525" y="1527625"/>
            <a:ext cx="47046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Combines </a:t>
            </a:r>
            <a:r>
              <a:rPr b="1" lang="en" sz="1100">
                <a:solidFill>
                  <a:schemeClr val="dk1"/>
                </a:solidFill>
              </a:rPr>
              <a:t>CNN + Transformer</a:t>
            </a:r>
            <a:r>
              <a:rPr lang="en" sz="1100">
                <a:solidFill>
                  <a:schemeClr val="dk1"/>
                </a:solidFill>
              </a:rPr>
              <a:t> architecture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Lightweight yet powerful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Used in many state-of-the-art segmentation tasks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430650" y="284400"/>
            <a:ext cx="524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U-Net vs SegFormer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46" name="Google Shape;1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213" y="1490650"/>
            <a:ext cx="745807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414425" y="422525"/>
            <a:ext cx="54603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Dataset for Segmentation Task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52" name="Google Shape;152;p33"/>
          <p:cNvSpPr txBox="1"/>
          <p:nvPr/>
        </p:nvSpPr>
        <p:spPr>
          <a:xfrm>
            <a:off x="414425" y="1251350"/>
            <a:ext cx="4119600" cy="2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Use small, open datasets like: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Oxford Pet Dataset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CamVid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ADE20K (sample subset)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Each image has: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Input image (RGB)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Target mask (pixel-wise class labels)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541350" y="343650"/>
            <a:ext cx="5195400" cy="1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Running Segmentation on Images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58" name="Google Shape;158;p34"/>
          <p:cNvSpPr txBox="1"/>
          <p:nvPr/>
        </p:nvSpPr>
        <p:spPr>
          <a:xfrm>
            <a:off x="541350" y="1747000"/>
            <a:ext cx="4647900" cy="2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Steps: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Preprocess image (resize, normalize)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Run model: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pred = model(image)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Postprocess output: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Convert logits to mask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Map mask values to colors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Display result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matplotlib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536275" y="430650"/>
            <a:ext cx="57612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Evaluation Metrics for Segmentation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64" name="Google Shape;16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925" y="1583850"/>
            <a:ext cx="735330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536275" y="430650"/>
            <a:ext cx="70530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Limitations &amp; Challenges in Segmentation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70" name="Google Shape;170;p36"/>
          <p:cNvSpPr txBox="1"/>
          <p:nvPr/>
        </p:nvSpPr>
        <p:spPr>
          <a:xfrm>
            <a:off x="536275" y="1121325"/>
            <a:ext cx="4095300" cy="3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⚠️ </a:t>
            </a:r>
            <a:r>
              <a:rPr b="1" lang="en" sz="1100">
                <a:solidFill>
                  <a:schemeClr val="dk1"/>
                </a:solidFill>
              </a:rPr>
              <a:t>Common Issues: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Slow inference (especially transformers)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Tiny objects may get missed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Label imbalance (class 0 = background dominates)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🛠️ </a:t>
            </a:r>
            <a:r>
              <a:rPr b="1" lang="en" sz="1100">
                <a:solidFill>
                  <a:schemeClr val="dk1"/>
                </a:solidFill>
              </a:rPr>
              <a:t>Solutions: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augmentation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Class weighting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Using focal loss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