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Crimson Pro SemiBold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rimsonPro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CrimsonProSemiBold-regular.fntdata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CrimsonProSemiBold-italic.fntdata"/><Relationship Id="rId6" Type="http://schemas.openxmlformats.org/officeDocument/2006/relationships/notesMaster" Target="notesMasters/notesMaster1.xml"/><Relationship Id="rId18" Type="http://schemas.openxmlformats.org/officeDocument/2006/relationships/font" Target="fonts/CrimsonProSemiBold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4ab751390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4ab751390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430c7e80f6_2_3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6" name="Google Shape;106;g3430c7e80f6_2_3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07" name="Google Shape;107;g3430c7e80f6_2_3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434be1ecb3_1_0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" name="Google Shape;113;g3434be1ecb3_1_0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14" name="Google Shape;114;g3434be1ecb3_1_0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430c7e80f6_2_43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g3430c7e80f6_2_43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1" name="Google Shape;121;g3430c7e80f6_2_43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30c7e80f6_2_56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430c7e80f6_2_56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28" name="Google Shape;128;g3430c7e80f6_2_56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43f4c77d84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43f4c77d84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30c7e80f6_4_79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430c7e80f6_4_79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43" name="Google Shape;143;g3430c7e80f6_4_79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430c7e80f6_2_87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" name="Google Shape;149;g3430c7e80f6_2_87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0" name="Google Shape;150;g3430c7e80f6_2_87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430c7e80f6_4_41:notes"/>
          <p:cNvSpPr/>
          <p:nvPr>
            <p:ph idx="2" type="sldImg"/>
          </p:nvPr>
        </p:nvSpPr>
        <p:spPr>
          <a:xfrm>
            <a:off x="571500" y="714375"/>
            <a:ext cx="4572000" cy="1928813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430c7e80f6_4_41:notes"/>
          <p:cNvSpPr txBox="1"/>
          <p:nvPr>
            <p:ph idx="1" type="body"/>
          </p:nvPr>
        </p:nvSpPr>
        <p:spPr>
          <a:xfrm>
            <a:off x="571500" y="2750344"/>
            <a:ext cx="4572000" cy="2250281"/>
          </a:xfrm>
          <a:prstGeom prst="rect">
            <a:avLst/>
          </a:prstGeom>
          <a:noFill/>
          <a:ln>
            <a:noFill/>
          </a:ln>
        </p:spPr>
        <p:txBody>
          <a:bodyPr anchorCtr="0" anchor="t" bIns="34900" lIns="69850" spcFirstLastPara="1" rIns="69850" wrap="square" tIns="349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</p:txBody>
      </p:sp>
      <p:sp>
        <p:nvSpPr>
          <p:cNvPr id="159" name="Google Shape;159;g3430c7e80f6_4_41:notes"/>
          <p:cNvSpPr txBox="1"/>
          <p:nvPr>
            <p:ph idx="12" type="sldNum"/>
          </p:nvPr>
        </p:nvSpPr>
        <p:spPr>
          <a:xfrm>
            <a:off x="3237177" y="5428258"/>
            <a:ext cx="2476500" cy="286742"/>
          </a:xfrm>
          <a:prstGeom prst="rect">
            <a:avLst/>
          </a:prstGeom>
          <a:noFill/>
          <a:ln>
            <a:noFill/>
          </a:ln>
        </p:spPr>
        <p:txBody>
          <a:bodyPr anchorCtr="0" anchor="b" bIns="34900" lIns="69850" spcFirstLastPara="1" rIns="69850" wrap="square" tIns="349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100"/>
              <a:t>‹#›</a:t>
            </a:fld>
            <a:endParaRPr sz="11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4" name="Google Shape;54;p1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8" name="Google Shape;58;p1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2" name="Google Shape;62;p1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66" name="Google Shape;66;p1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4" name="Google Shape;74;p1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8" name="Google Shape;78;p2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3" name="Google Shape;83;p2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2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7" name="Google Shape;87;p2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57150" lIns="57150" spcFirstLastPara="1" rIns="57150" wrap="square" tIns="571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1" name="Google Shape;91;p2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24509" y="4843463"/>
            <a:ext cx="1076628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Comparing CNN Architectures</a:t>
            </a:r>
            <a:endParaRPr b="1" sz="3500"/>
          </a:p>
        </p:txBody>
      </p:sp>
      <p:sp>
        <p:nvSpPr>
          <p:cNvPr id="97" name="Google Shape;97;p2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Week 7 - Day 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6"/>
          <p:cNvSpPr txBox="1"/>
          <p:nvPr/>
        </p:nvSpPr>
        <p:spPr>
          <a:xfrm>
            <a:off x="333150" y="60850"/>
            <a:ext cx="6191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Why Deeper Networks?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03" name="Google Shape;103;p26"/>
          <p:cNvSpPr txBox="1"/>
          <p:nvPr/>
        </p:nvSpPr>
        <p:spPr>
          <a:xfrm>
            <a:off x="333150" y="1138925"/>
            <a:ext cx="47940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Deeper CNNs extract more </a:t>
            </a:r>
            <a:r>
              <a:rPr b="1" lang="en" sz="1100">
                <a:solidFill>
                  <a:schemeClr val="dk1"/>
                </a:solidFill>
              </a:rPr>
              <a:t>abstract features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Early layers: edges, textures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Deeper layers: shapes, object parts, concepts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1"/>
                </a:solidFill>
              </a:rPr>
              <a:t>But: </a:t>
            </a:r>
            <a:r>
              <a:rPr b="1" lang="en" sz="1100">
                <a:solidFill>
                  <a:schemeClr val="dk1"/>
                </a:solidFill>
              </a:rPr>
              <a:t>Deeper ≠ always better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Can cause </a:t>
            </a:r>
            <a:r>
              <a:rPr b="1" lang="en" sz="1100">
                <a:solidFill>
                  <a:schemeClr val="dk1"/>
                </a:solidFill>
              </a:rPr>
              <a:t>vanishing gradients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Harder to train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7"/>
          <p:cNvSpPr/>
          <p:nvPr/>
        </p:nvSpPr>
        <p:spPr>
          <a:xfrm>
            <a:off x="496125" y="72652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VGGNet – Simplicity with Depth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0" name="Google Shape;110;p27"/>
          <p:cNvSpPr/>
          <p:nvPr/>
        </p:nvSpPr>
        <p:spPr>
          <a:xfrm>
            <a:off x="496119" y="1517283"/>
            <a:ext cx="47229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Introduced in 2014 (VGG16, VGG19)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Uses only </a:t>
            </a:r>
            <a:r>
              <a:rPr b="1" lang="en" sz="1100">
                <a:solidFill>
                  <a:schemeClr val="dk1"/>
                </a:solidFill>
              </a:rPr>
              <a:t>3x3 convolutions</a:t>
            </a:r>
            <a:r>
              <a:rPr lang="en" sz="1100">
                <a:solidFill>
                  <a:schemeClr val="dk1"/>
                </a:solidFill>
              </a:rPr>
              <a:t> and </a:t>
            </a:r>
            <a:r>
              <a:rPr b="1" lang="en" sz="1100">
                <a:solidFill>
                  <a:schemeClr val="dk1"/>
                </a:solidFill>
              </a:rPr>
              <a:t>2x2 max-pooling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Deep architecture with </a:t>
            </a:r>
            <a:r>
              <a:rPr b="1" lang="en" sz="1100">
                <a:solidFill>
                  <a:schemeClr val="dk1"/>
                </a:solidFill>
              </a:rPr>
              <a:t>simplicity &amp; uniformity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>
                <a:solidFill>
                  <a:schemeClr val="dk1"/>
                </a:solidFill>
              </a:rPr>
              <a:t>Architecture (VGG16):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13 conv layers + 3 fully connected layers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8"/>
          <p:cNvSpPr/>
          <p:nvPr/>
        </p:nvSpPr>
        <p:spPr>
          <a:xfrm>
            <a:off x="496125" y="169925"/>
            <a:ext cx="6898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Problem – Vanishing Gradients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17" name="Google Shape;117;p28"/>
          <p:cNvSpPr txBox="1"/>
          <p:nvPr/>
        </p:nvSpPr>
        <p:spPr>
          <a:xfrm>
            <a:off x="496125" y="1202600"/>
            <a:ext cx="4572000" cy="29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In very deep nets: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Gradients shrink during backpropagation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Lower layers learn slowly or not at all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Symptoms: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Training accuracy stuck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Loss not decreasing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Model not converging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9"/>
          <p:cNvSpPr txBox="1"/>
          <p:nvPr/>
        </p:nvSpPr>
        <p:spPr>
          <a:xfrm>
            <a:off x="195000" y="97500"/>
            <a:ext cx="6776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ResNet – Residual Networks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24" name="Google Shape;124;p29"/>
          <p:cNvSpPr txBox="1"/>
          <p:nvPr/>
        </p:nvSpPr>
        <p:spPr>
          <a:xfrm>
            <a:off x="195000" y="1121325"/>
            <a:ext cx="4137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Introduced in 2015 by Microsoft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Skip connections</a:t>
            </a:r>
            <a:r>
              <a:rPr lang="en" sz="1100">
                <a:solidFill>
                  <a:schemeClr val="dk1"/>
                </a:solidFill>
              </a:rPr>
              <a:t> bypass certain layers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Helps gradient flow easily → train much deeper networks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0"/>
          <p:cNvSpPr/>
          <p:nvPr/>
        </p:nvSpPr>
        <p:spPr>
          <a:xfrm>
            <a:off x="421772" y="331450"/>
            <a:ext cx="5808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300"/>
              <a:buFont typeface="Crimson Pro SemiBold"/>
              <a:buNone/>
            </a:pPr>
            <a:r>
              <a:rPr b="1" lang="en" sz="23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How Residual Blocks Work</a:t>
            </a:r>
            <a:endParaRPr b="1" sz="23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31" name="Google Shape;131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8050" y="909100"/>
            <a:ext cx="6972300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 txBox="1"/>
          <p:nvPr/>
        </p:nvSpPr>
        <p:spPr>
          <a:xfrm>
            <a:off x="0" y="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31"/>
          <p:cNvSpPr txBox="1"/>
          <p:nvPr/>
        </p:nvSpPr>
        <p:spPr>
          <a:xfrm>
            <a:off x="292525" y="91350"/>
            <a:ext cx="5939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DenseNet – Even More Connection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38" name="Google Shape;138;p31"/>
          <p:cNvSpPr txBox="1"/>
          <p:nvPr/>
        </p:nvSpPr>
        <p:spPr>
          <a:xfrm>
            <a:off x="292525" y="1263000"/>
            <a:ext cx="49647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39" name="Google Shape;139;p31"/>
          <p:cNvSpPr txBox="1"/>
          <p:nvPr/>
        </p:nvSpPr>
        <p:spPr>
          <a:xfrm>
            <a:off x="292525" y="1226975"/>
            <a:ext cx="47046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Introduced in 2017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" sz="1100">
                <a:solidFill>
                  <a:schemeClr val="dk1"/>
                </a:solidFill>
              </a:rPr>
              <a:t>Each layer gets inputs from all previous layers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Promotes </a:t>
            </a:r>
            <a:r>
              <a:rPr b="1" lang="en" sz="1100">
                <a:solidFill>
                  <a:schemeClr val="dk1"/>
                </a:solidFill>
              </a:rPr>
              <a:t>feature reuse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Smaller models, better performance</a:t>
            </a:r>
            <a:endParaRPr sz="11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/>
          <p:nvPr/>
        </p:nvSpPr>
        <p:spPr>
          <a:xfrm>
            <a:off x="390500" y="352850"/>
            <a:ext cx="57912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Comparing Architectures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pic>
        <p:nvPicPr>
          <p:cNvPr id="146" name="Google Shape;14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2475" y="2069675"/>
            <a:ext cx="763905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3"/>
          <p:cNvSpPr/>
          <p:nvPr/>
        </p:nvSpPr>
        <p:spPr>
          <a:xfrm>
            <a:off x="496126" y="749275"/>
            <a:ext cx="76407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Transfer Learning </a:t>
            </a:r>
            <a:endParaRPr b="1" sz="2800">
              <a:solidFill>
                <a:srgbClr val="152D47"/>
              </a:solidFill>
              <a:latin typeface="Crimson Pro SemiBold"/>
              <a:ea typeface="Crimson Pro SemiBold"/>
              <a:cs typeface="Crimson Pro SemiBold"/>
              <a:sym typeface="Crimson Pro SemiBold"/>
            </a:endParaRPr>
          </a:p>
        </p:txBody>
      </p:sp>
      <p:sp>
        <p:nvSpPr>
          <p:cNvPr id="153" name="Google Shape;153;p33"/>
          <p:cNvSpPr txBox="1"/>
          <p:nvPr/>
        </p:nvSpPr>
        <p:spPr>
          <a:xfrm>
            <a:off x="496125" y="1251350"/>
            <a:ext cx="46149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154" name="Google Shape;154;p33"/>
          <p:cNvSpPr txBox="1"/>
          <p:nvPr/>
        </p:nvSpPr>
        <p:spPr>
          <a:xfrm>
            <a:off x="496125" y="1421975"/>
            <a:ext cx="4972800" cy="74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Freeze pretrained feature extractor layers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Replace classifier head with custom layers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Fine-tune last few layers for better performance</a:t>
            </a:r>
            <a:endParaRPr sz="1100">
              <a:solidFill>
                <a:schemeClr val="dk1"/>
              </a:solidFill>
            </a:endParaRPr>
          </a:p>
        </p:txBody>
      </p:sp>
      <p:pic>
        <p:nvPicPr>
          <p:cNvPr id="155" name="Google Shape;155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6200" y="3122225"/>
            <a:ext cx="5095875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4"/>
          <p:cNvSpPr/>
          <p:nvPr/>
        </p:nvSpPr>
        <p:spPr>
          <a:xfrm>
            <a:off x="333625" y="504375"/>
            <a:ext cx="6483900" cy="8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2800"/>
              <a:buFont typeface="Crimson Pro SemiBold"/>
              <a:buNone/>
            </a:pPr>
            <a:r>
              <a:rPr b="1" lang="en" sz="2800">
                <a:solidFill>
                  <a:srgbClr val="152D47"/>
                </a:solidFill>
                <a:latin typeface="Crimson Pro SemiBold"/>
                <a:ea typeface="Crimson Pro SemiBold"/>
                <a:cs typeface="Crimson Pro SemiBold"/>
                <a:sym typeface="Crimson Pro SemiBold"/>
              </a:rPr>
              <a:t>Activity </a:t>
            </a:r>
            <a:endParaRPr b="0" i="0" sz="2800" u="none" cap="none" strike="noStrike"/>
          </a:p>
        </p:txBody>
      </p:sp>
      <p:sp>
        <p:nvSpPr>
          <p:cNvPr id="162" name="Google Shape;162;p34"/>
          <p:cNvSpPr txBox="1"/>
          <p:nvPr/>
        </p:nvSpPr>
        <p:spPr>
          <a:xfrm>
            <a:off x="869425" y="1568250"/>
            <a:ext cx="4997400" cy="1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Activity Goal: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Train a </a:t>
            </a:r>
            <a:r>
              <a:rPr b="1" lang="en" sz="1100">
                <a:solidFill>
                  <a:schemeClr val="dk1"/>
                </a:solidFill>
              </a:rPr>
              <a:t>pretrained ResNet/VGG</a:t>
            </a:r>
            <a:br>
              <a:rPr b="1" lang="en" sz="1100">
                <a:solidFill>
                  <a:schemeClr val="dk1"/>
                </a:solidFill>
              </a:rPr>
            </a:b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Dataset: CIFAR-10 or MNIST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</p:txBody>
      </p:sp>
      <p:sp>
        <p:nvSpPr>
          <p:cNvPr id="163" name="Google Shape;163;p34"/>
          <p:cNvSpPr txBox="1"/>
          <p:nvPr/>
        </p:nvSpPr>
        <p:spPr>
          <a:xfrm>
            <a:off x="869425" y="2854950"/>
            <a:ext cx="3000000" cy="18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Evaluate</a:t>
            </a:r>
            <a:r>
              <a:rPr b="1" lang="en" sz="1100">
                <a:solidFill>
                  <a:schemeClr val="dk1"/>
                </a:solidFill>
              </a:rPr>
              <a:t>:</a:t>
            </a:r>
            <a:endParaRPr b="1"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Training time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Accuracy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Overfitting</a:t>
            </a:r>
            <a:br>
              <a:rPr lang="en" sz="1100">
                <a:solidFill>
                  <a:schemeClr val="dk1"/>
                </a:solidFill>
              </a:rPr>
            </a:br>
            <a:endParaRPr sz="110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Generalization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