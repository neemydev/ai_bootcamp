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Crimson Pro SemiBold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rimsonProSemiBold-regular.fntdata"/><Relationship Id="rId11" Type="http://schemas.openxmlformats.org/officeDocument/2006/relationships/slide" Target="slides/slide5.xml"/><Relationship Id="rId22" Type="http://schemas.openxmlformats.org/officeDocument/2006/relationships/font" Target="fonts/CrimsonProSemiBold-italic.fntdata"/><Relationship Id="rId10" Type="http://schemas.openxmlformats.org/officeDocument/2006/relationships/slide" Target="slides/slide4.xml"/><Relationship Id="rId21" Type="http://schemas.openxmlformats.org/officeDocument/2006/relationships/font" Target="fonts/CrimsonProSemiBold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CrimsonPro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ab751390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ab751390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30c7e80f6_2_30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430c7e80f6_2_30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9" name="Google Shape;109;g3430c7e80f6_2_30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434be1ecb3_1_0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434be1ecb3_1_0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6" name="Google Shape;116;g3434be1ecb3_1_0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30c7e80f6_2_43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430c7e80f6_2_43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23" name="Google Shape;123;g3430c7e80f6_2_43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30c7e80f6_2_56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430c7e80f6_2_56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31" name="Google Shape;131;g3430c7e80f6_2_56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43f4c77d8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43f4c77d8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30c7e80f6_4_79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430c7e80f6_4_79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46" name="Google Shape;146;g3430c7e80f6_4_79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30c7e80f6_2_87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430c7e80f6_2_87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53" name="Google Shape;153;g3430c7e80f6_2_87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30c7e80f6_4_41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430c7e80f6_4_41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1" name="Google Shape;161;g3430c7e80f6_4_41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b1f51b9a8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4b1f51b9a8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b1f51b9a8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4b1f51b9a8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4b1f51b9a8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4b1f51b9a8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2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2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2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Object Detection – YOLO &amp; Faster R-CNN</a:t>
            </a:r>
            <a:endParaRPr b="1" sz="3500"/>
          </a:p>
        </p:txBody>
      </p:sp>
      <p:sp>
        <p:nvSpPr>
          <p:cNvPr id="97" name="Google Shape;97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7 - Day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/>
        </p:nvSpPr>
        <p:spPr>
          <a:xfrm>
            <a:off x="333150" y="60850"/>
            <a:ext cx="619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Classification vs Detection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03" name="Google Shape;103;p26"/>
          <p:cNvSpPr txBox="1"/>
          <p:nvPr/>
        </p:nvSpPr>
        <p:spPr>
          <a:xfrm>
            <a:off x="333150" y="1138925"/>
            <a:ext cx="4794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04" name="Google Shape;10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150" y="1369050"/>
            <a:ext cx="6076950" cy="13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6"/>
          <p:cNvSpPr txBox="1"/>
          <p:nvPr/>
        </p:nvSpPr>
        <p:spPr>
          <a:xfrm>
            <a:off x="333150" y="3030850"/>
            <a:ext cx="42390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Example: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Classification: "This is a dog"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Detection: "This is a dog at (x, y, w, h)"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/>
          <p:nvPr/>
        </p:nvSpPr>
        <p:spPr>
          <a:xfrm>
            <a:off x="496125" y="726525"/>
            <a:ext cx="64839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Object Detection Pipeline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12" name="Google Shape;112;p27"/>
          <p:cNvSpPr/>
          <p:nvPr/>
        </p:nvSpPr>
        <p:spPr>
          <a:xfrm>
            <a:off x="496119" y="1517283"/>
            <a:ext cx="4722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Input Image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→ </a:t>
            </a:r>
            <a:r>
              <a:rPr b="1" lang="en" sz="1100">
                <a:solidFill>
                  <a:schemeClr val="dk1"/>
                </a:solidFill>
              </a:rPr>
              <a:t>Feature extraction (CNN)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→ </a:t>
            </a:r>
            <a:r>
              <a:rPr b="1" lang="en" sz="1100">
                <a:solidFill>
                  <a:schemeClr val="dk1"/>
                </a:solidFill>
              </a:rPr>
              <a:t>Region proposals (optional)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→ </a:t>
            </a:r>
            <a:r>
              <a:rPr b="1" lang="en" sz="1100">
                <a:solidFill>
                  <a:schemeClr val="dk1"/>
                </a:solidFill>
              </a:rPr>
              <a:t>Bounding box regression + class prediction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Output:</a:t>
            </a:r>
            <a:r>
              <a:rPr lang="en" sz="1100">
                <a:solidFill>
                  <a:schemeClr val="dk1"/>
                </a:solidFill>
              </a:rPr>
              <a:t> Boxes + Class Labels + Confidence Scores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/>
          <p:nvPr/>
        </p:nvSpPr>
        <p:spPr>
          <a:xfrm>
            <a:off x="496125" y="169925"/>
            <a:ext cx="6898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What is YOLO? (You Only Look Once)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19" name="Google Shape;119;p28"/>
          <p:cNvSpPr txBox="1"/>
          <p:nvPr/>
        </p:nvSpPr>
        <p:spPr>
          <a:xfrm>
            <a:off x="496125" y="1202600"/>
            <a:ext cx="4572000" cy="3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Real-time object detection model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Treats detection as a </a:t>
            </a:r>
            <a:r>
              <a:rPr b="1" lang="en" sz="1100">
                <a:solidFill>
                  <a:schemeClr val="dk1"/>
                </a:solidFill>
              </a:rPr>
              <a:t>regression problem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Divides image into grid cells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Predicts: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 sz="1100">
                <a:solidFill>
                  <a:schemeClr val="dk1"/>
                </a:solidFill>
              </a:rPr>
              <a:t>Bounding boxes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 sz="1100">
                <a:solidFill>
                  <a:schemeClr val="dk1"/>
                </a:solidFill>
              </a:rPr>
              <a:t>Class probabilities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 sz="1100">
                <a:solidFill>
                  <a:schemeClr val="dk1"/>
                </a:solidFill>
              </a:rPr>
              <a:t>Confidence score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Key Point:</a:t>
            </a:r>
            <a:r>
              <a:rPr lang="en" sz="1100">
                <a:solidFill>
                  <a:schemeClr val="dk1"/>
                </a:solidFill>
              </a:rPr>
              <a:t> All in </a:t>
            </a:r>
            <a:r>
              <a:rPr b="1" lang="en" sz="1100">
                <a:solidFill>
                  <a:schemeClr val="dk1"/>
                </a:solidFill>
              </a:rPr>
              <a:t>one forward pass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→ Super fast!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9"/>
          <p:cNvSpPr txBox="1"/>
          <p:nvPr/>
        </p:nvSpPr>
        <p:spPr>
          <a:xfrm>
            <a:off x="195000" y="97500"/>
            <a:ext cx="677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YOLO – How it Works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26" name="Google Shape;126;p29"/>
          <p:cNvSpPr txBox="1"/>
          <p:nvPr/>
        </p:nvSpPr>
        <p:spPr>
          <a:xfrm>
            <a:off x="195000" y="1121325"/>
            <a:ext cx="5403600" cy="28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Break image into an </a:t>
            </a:r>
            <a:r>
              <a:rPr b="1" lang="en" sz="1100">
                <a:solidFill>
                  <a:schemeClr val="dk1"/>
                </a:solidFill>
              </a:rPr>
              <a:t>S × S grid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Each cell predicts: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B boxes (coordinates)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Confidence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 class scores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Example: YOLOv3 = 13x13x(3×5 + 80)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27" name="Google Shape;12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754" y="2974850"/>
            <a:ext cx="4353171" cy="6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/>
          <p:nvPr/>
        </p:nvSpPr>
        <p:spPr>
          <a:xfrm>
            <a:off x="421772" y="331450"/>
            <a:ext cx="58086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300"/>
              <a:buFont typeface="Crimson Pro SemiBold"/>
              <a:buNone/>
            </a:pPr>
            <a:r>
              <a:rPr b="1" lang="en" sz="23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Pros &amp; Cons of YOLO</a:t>
            </a:r>
            <a:endParaRPr b="1" sz="23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34" name="Google Shape;134;p30"/>
          <p:cNvSpPr txBox="1"/>
          <p:nvPr/>
        </p:nvSpPr>
        <p:spPr>
          <a:xfrm>
            <a:off x="421775" y="1384950"/>
            <a:ext cx="43797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✅ </a:t>
            </a:r>
            <a:r>
              <a:rPr b="1" lang="en" sz="1100">
                <a:solidFill>
                  <a:schemeClr val="dk1"/>
                </a:solidFill>
              </a:rPr>
              <a:t>Pros: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Very fast (real-time detection)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Good general performance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⚠️ </a:t>
            </a:r>
            <a:r>
              <a:rPr b="1" lang="en" sz="1100">
                <a:solidFill>
                  <a:schemeClr val="dk1"/>
                </a:solidFill>
              </a:rPr>
              <a:t>Cons: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May struggle with small objects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Less accurate for precise localization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1"/>
          <p:cNvSpPr txBox="1"/>
          <p:nvPr/>
        </p:nvSpPr>
        <p:spPr>
          <a:xfrm>
            <a:off x="292525" y="91350"/>
            <a:ext cx="707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Faster R-CNN – Region Proposal Approach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41" name="Google Shape;141;p31"/>
          <p:cNvSpPr txBox="1"/>
          <p:nvPr/>
        </p:nvSpPr>
        <p:spPr>
          <a:xfrm>
            <a:off x="292525" y="1263000"/>
            <a:ext cx="4964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42" name="Google Shape;142;p31"/>
          <p:cNvSpPr txBox="1"/>
          <p:nvPr/>
        </p:nvSpPr>
        <p:spPr>
          <a:xfrm>
            <a:off x="292525" y="1226975"/>
            <a:ext cx="4704600" cy="20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Two-stage detector: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Region Proposal Network (RPN):</a:t>
            </a:r>
            <a:r>
              <a:rPr lang="en" sz="1100">
                <a:solidFill>
                  <a:schemeClr val="dk1"/>
                </a:solidFill>
              </a:rPr>
              <a:t> Suggests regions likely to contain objects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Classifier &amp; Box Regressor:</a:t>
            </a:r>
            <a:r>
              <a:rPr lang="en" sz="1100">
                <a:solidFill>
                  <a:schemeClr val="dk1"/>
                </a:solidFill>
              </a:rPr>
              <a:t> Refines predictions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Uses backbone CNN (e.g., ResNet) for feature extraction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2"/>
          <p:cNvSpPr/>
          <p:nvPr/>
        </p:nvSpPr>
        <p:spPr>
          <a:xfrm>
            <a:off x="390500" y="352850"/>
            <a:ext cx="5791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 Faster R-CNN vs YOLO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pic>
        <p:nvPicPr>
          <p:cNvPr id="149" name="Google Shape;14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500" y="1403375"/>
            <a:ext cx="7105650" cy="221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/>
          <p:nvPr/>
        </p:nvSpPr>
        <p:spPr>
          <a:xfrm>
            <a:off x="496126" y="749275"/>
            <a:ext cx="7640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Pretrained YOLO in Action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56" name="Google Shape;156;p33"/>
          <p:cNvSpPr txBox="1"/>
          <p:nvPr/>
        </p:nvSpPr>
        <p:spPr>
          <a:xfrm>
            <a:off x="496125" y="1251350"/>
            <a:ext cx="461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57" name="Google Shape;15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125" y="1774000"/>
            <a:ext cx="6229350" cy="24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4"/>
          <p:cNvSpPr/>
          <p:nvPr/>
        </p:nvSpPr>
        <p:spPr>
          <a:xfrm>
            <a:off x="333625" y="504375"/>
            <a:ext cx="64839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Pretrained Faster R-CNN in PyTorch</a:t>
            </a:r>
            <a:endParaRPr b="0" i="0" sz="2800" u="none" cap="none" strike="noStrike"/>
          </a:p>
        </p:txBody>
      </p:sp>
      <p:pic>
        <p:nvPicPr>
          <p:cNvPr id="164" name="Google Shape;16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575" y="1550800"/>
            <a:ext cx="6229350" cy="24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5"/>
          <p:cNvSpPr txBox="1"/>
          <p:nvPr/>
        </p:nvSpPr>
        <p:spPr>
          <a:xfrm>
            <a:off x="414400" y="268150"/>
            <a:ext cx="490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Use Cases of Object Detection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70" name="Google Shape;170;p35"/>
          <p:cNvSpPr txBox="1"/>
          <p:nvPr/>
        </p:nvSpPr>
        <p:spPr>
          <a:xfrm>
            <a:off x="414400" y="1132650"/>
            <a:ext cx="4014000" cy="22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200"/>
              <a:t>Autonomous driving (detect pedestrians, signs)</a:t>
            </a:r>
            <a:br>
              <a:rPr lang="en" sz="1200"/>
            </a:br>
            <a:endParaRPr sz="12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200"/>
              <a:t>Surveillance and security</a:t>
            </a:r>
            <a:br>
              <a:rPr lang="en" sz="1200"/>
            </a:br>
            <a:endParaRPr sz="12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200"/>
              <a:t>Healthcare (detect tumors, instruments)</a:t>
            </a:r>
            <a:br>
              <a:rPr lang="en" sz="1200"/>
            </a:br>
            <a:endParaRPr sz="12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200"/>
              <a:t>Retail (shelf product monitoring)</a:t>
            </a:r>
            <a:br>
              <a:rPr lang="en" sz="1200"/>
            </a:br>
            <a:endParaRPr sz="12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200"/>
              <a:t>Robotics and drones</a:t>
            </a:r>
            <a:br>
              <a:rPr lang="en" sz="1200"/>
            </a:br>
            <a:endParaRPr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/>
          <p:cNvSpPr txBox="1"/>
          <p:nvPr/>
        </p:nvSpPr>
        <p:spPr>
          <a:xfrm>
            <a:off x="333150" y="211275"/>
            <a:ext cx="541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Challenges in Object Detection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76" name="Google Shape;176;p36"/>
          <p:cNvSpPr txBox="1"/>
          <p:nvPr/>
        </p:nvSpPr>
        <p:spPr>
          <a:xfrm>
            <a:off x="333150" y="1291975"/>
            <a:ext cx="4810500" cy="28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🚧 </a:t>
            </a:r>
            <a:r>
              <a:rPr b="1" lang="en" sz="1100">
                <a:solidFill>
                  <a:schemeClr val="dk1"/>
                </a:solidFill>
              </a:rPr>
              <a:t>Common Challenges: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Small or overlapping objects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Class imbalance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Multiple objects in frame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Occlusion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Lighting &amp; angle variation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🛠️ </a:t>
            </a:r>
            <a:r>
              <a:rPr b="1" lang="en" sz="1100">
                <a:solidFill>
                  <a:schemeClr val="dk1"/>
                </a:solidFill>
              </a:rPr>
              <a:t>Solutions:</a:t>
            </a:r>
            <a:r>
              <a:rPr lang="en" sz="1100">
                <a:solidFill>
                  <a:schemeClr val="dk1"/>
                </a:solidFill>
              </a:rPr>
              <a:t> Data augmentation, anchor tuning, hybrid models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7"/>
          <p:cNvSpPr txBox="1"/>
          <p:nvPr/>
        </p:nvSpPr>
        <p:spPr>
          <a:xfrm>
            <a:off x="316900" y="365650"/>
            <a:ext cx="486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Activity 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82" name="Google Shape;182;p37"/>
          <p:cNvSpPr txBox="1"/>
          <p:nvPr/>
        </p:nvSpPr>
        <p:spPr>
          <a:xfrm>
            <a:off x="316900" y="1113200"/>
            <a:ext cx="4395900" cy="1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🧪 </a:t>
            </a:r>
            <a:r>
              <a:rPr b="1" lang="en" sz="1100">
                <a:solidFill>
                  <a:schemeClr val="dk1"/>
                </a:solidFill>
              </a:rPr>
              <a:t>Challenge: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Load 3 sample images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Run YOLOv8 on them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Display bounding boxes and class labels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