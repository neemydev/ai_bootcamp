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Crimson Pro Medium"/>
      <p:regular r:id="rId25"/>
      <p:bold r:id="rId26"/>
      <p:italic r:id="rId27"/>
      <p:boldItalic r:id="rId28"/>
    </p:embeddedFont>
    <p:embeddedFont>
      <p:font typeface="Heebo"/>
      <p:regular r:id="rId29"/>
      <p:bold r:id="rId30"/>
    </p:embeddedFont>
    <p:embeddedFont>
      <p:font typeface="Crimson Pro"/>
      <p:regular r:id="rId31"/>
      <p:bold r:id="rId32"/>
      <p:italic r:id="rId33"/>
      <p:boldItalic r:id="rId34"/>
    </p:embeddedFont>
    <p:embeddedFont>
      <p:font typeface="Crimson Pro SemiBold"/>
      <p:regular r:id="rId35"/>
      <p:bold r:id="rId36"/>
      <p:italic r:id="rId37"/>
      <p:boldItalic r:id="rId38"/>
    </p:embeddedFont>
    <p:embeddedFont>
      <p:font typeface="Sen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DAFEA0-E927-4ED5-BA60-9832A9A2B490}">
  <a:tblStyle styleId="{94DAFEA0-E927-4ED5-BA60-9832A9A2B49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en-bold.fntdata"/><Relationship Id="rId20" Type="http://schemas.openxmlformats.org/officeDocument/2006/relationships/slide" Target="slides/slide13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CrimsonProMedium-bold.fntdata"/><Relationship Id="rId25" Type="http://schemas.openxmlformats.org/officeDocument/2006/relationships/font" Target="fonts/CrimsonProMedium-regular.fntdata"/><Relationship Id="rId28" Type="http://schemas.openxmlformats.org/officeDocument/2006/relationships/font" Target="fonts/CrimsonProMedium-boldItalic.fntdata"/><Relationship Id="rId27" Type="http://schemas.openxmlformats.org/officeDocument/2006/relationships/font" Target="fonts/CrimsonProMedium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Heebo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CrimsonPro-regular.fntdata"/><Relationship Id="rId30" Type="http://schemas.openxmlformats.org/officeDocument/2006/relationships/font" Target="fonts/Heebo-bold.fntdata"/><Relationship Id="rId11" Type="http://schemas.openxmlformats.org/officeDocument/2006/relationships/slide" Target="slides/slide4.xml"/><Relationship Id="rId33" Type="http://schemas.openxmlformats.org/officeDocument/2006/relationships/font" Target="fonts/CrimsonPro-italic.fntdata"/><Relationship Id="rId10" Type="http://schemas.openxmlformats.org/officeDocument/2006/relationships/slide" Target="slides/slide3.xml"/><Relationship Id="rId32" Type="http://schemas.openxmlformats.org/officeDocument/2006/relationships/font" Target="fonts/CrimsonPro-bold.fntdata"/><Relationship Id="rId13" Type="http://schemas.openxmlformats.org/officeDocument/2006/relationships/slide" Target="slides/slide6.xml"/><Relationship Id="rId35" Type="http://schemas.openxmlformats.org/officeDocument/2006/relationships/font" Target="fonts/CrimsonProSemiBold-regular.fntdata"/><Relationship Id="rId12" Type="http://schemas.openxmlformats.org/officeDocument/2006/relationships/slide" Target="slides/slide5.xml"/><Relationship Id="rId34" Type="http://schemas.openxmlformats.org/officeDocument/2006/relationships/font" Target="fonts/CrimsonPro-boldItalic.fntdata"/><Relationship Id="rId15" Type="http://schemas.openxmlformats.org/officeDocument/2006/relationships/slide" Target="slides/slide8.xml"/><Relationship Id="rId37" Type="http://schemas.openxmlformats.org/officeDocument/2006/relationships/font" Target="fonts/CrimsonProSemiBold-italic.fntdata"/><Relationship Id="rId14" Type="http://schemas.openxmlformats.org/officeDocument/2006/relationships/slide" Target="slides/slide7.xml"/><Relationship Id="rId36" Type="http://schemas.openxmlformats.org/officeDocument/2006/relationships/font" Target="fonts/CrimsonProSemiBold-bold.fntdata"/><Relationship Id="rId17" Type="http://schemas.openxmlformats.org/officeDocument/2006/relationships/slide" Target="slides/slide10.xml"/><Relationship Id="rId39" Type="http://schemas.openxmlformats.org/officeDocument/2006/relationships/font" Target="fonts/Sen-regular.fntdata"/><Relationship Id="rId16" Type="http://schemas.openxmlformats.org/officeDocument/2006/relationships/slide" Target="slides/slide9.xml"/><Relationship Id="rId38" Type="http://schemas.openxmlformats.org/officeDocument/2006/relationships/font" Target="fonts/CrimsonProSemiBold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a979253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a979253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30c7e80f6_2_3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430c7e80f6_2_3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6" name="Google Shape;106;g3430c7e80f6_2_3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30c7e80f6_2_5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430c7e80f6_2_5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4" name="Google Shape;114;g3430c7e80f6_2_5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34be1ecb3_1_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434be1ecb3_1_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2" name="Google Shape;122;g3434be1ecb3_1_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a9b5e924c_3_22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4a9b5e924c_3_22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5" name="Google Shape;135;g34a9b5e924c_3_22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4a9792530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4a9792530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30c7e80f6_2_8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430c7e80f6_2_8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6" name="Google Shape;156;g3430c7e80f6_2_8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a9b5e924c_3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a9b5e924c_3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430c7e80f6_2_9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430c7e80f6_2_9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0" name="Google Shape;170;g3430c7e80f6_2_9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430c7e80f6_2_11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430c7e80f6_2_11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7" name="Google Shape;177;g3430c7e80f6_2_11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a9b5e924c_3_60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4a9b5e924c_3_60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84" name="Google Shape;184;g34a9b5e924c_3_60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30c7e80f6_4_41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430c7e80f6_4_41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92" name="Google Shape;192;g3430c7e80f6_4_41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Optimization and Intro to Model Deployment  </a:t>
            </a:r>
            <a:endParaRPr b="1" sz="3500"/>
          </a:p>
        </p:txBody>
      </p:sp>
      <p:sp>
        <p:nvSpPr>
          <p:cNvPr id="97" name="Google Shape;9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5 - Day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6" title="slide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237" y="297625"/>
            <a:ext cx="6925527" cy="454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/>
          <p:nvPr/>
        </p:nvSpPr>
        <p:spPr>
          <a:xfrm>
            <a:off x="496125" y="726525"/>
            <a:ext cx="73692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Introduction to Hyperparameter Tuning</a:t>
            </a:r>
            <a:endParaRPr b="0" i="0" sz="2800" u="none" cap="none" strike="noStrike"/>
          </a:p>
        </p:txBody>
      </p:sp>
      <p:sp>
        <p:nvSpPr>
          <p:cNvPr id="109" name="Google Shape;109;p27"/>
          <p:cNvSpPr/>
          <p:nvPr/>
        </p:nvSpPr>
        <p:spPr>
          <a:xfrm>
            <a:off x="496125" y="1612425"/>
            <a:ext cx="4866300" cy="16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rimson Pro Medium"/>
              <a:buChar char="●"/>
            </a:pPr>
            <a:r>
              <a:rPr lang="en" sz="12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Hyperparameter tuning involves selecting the best set of hyperparameters for a learning algorithm to optimize its performance on a given task.​</a:t>
            </a:r>
            <a:endParaRPr sz="12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Importance:</a:t>
            </a:r>
            <a:endParaRPr b="1" sz="13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rimson Pro Medium"/>
              <a:buChar char="●"/>
            </a:pPr>
            <a:r>
              <a:rPr lang="en" sz="12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Proper tuning can lead to improved model accuracy, generalization, and efficiency.</a:t>
            </a:r>
            <a:endParaRPr sz="12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Example</a:t>
            </a: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:</a:t>
            </a:r>
            <a:endParaRPr b="1"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Choosing the optimal 'C' and 'gamma' values for a Support Vector </a:t>
            </a:r>
            <a:endParaRPr sz="12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Machine (SVM) with an RBF kernel to achieve the best classification </a:t>
            </a:r>
            <a:endParaRPr sz="12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performance.</a:t>
            </a:r>
            <a:br>
              <a:rPr lang="en" sz="12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</a:br>
            <a:endParaRPr sz="12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120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t/>
            </a:r>
            <a:endParaRPr sz="11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</p:txBody>
      </p:sp>
      <p:pic>
        <p:nvPicPr>
          <p:cNvPr id="110" name="Google Shape;110;p27" title="slide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3975" y="2068075"/>
            <a:ext cx="3461176" cy="2026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/>
          <p:nvPr/>
        </p:nvSpPr>
        <p:spPr>
          <a:xfrm>
            <a:off x="421772" y="331450"/>
            <a:ext cx="5808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300"/>
              <a:buFont typeface="Crimson Pro SemiBold"/>
              <a:buNone/>
            </a:pPr>
            <a:r>
              <a:rPr b="1" lang="en" sz="23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 Overview of Tuning Methods</a:t>
            </a:r>
            <a:endParaRPr b="0" i="0" sz="2300" u="none" cap="none" strike="noStrike"/>
          </a:p>
        </p:txBody>
      </p:sp>
      <p:sp>
        <p:nvSpPr>
          <p:cNvPr id="117" name="Google Shape;117;p28"/>
          <p:cNvSpPr/>
          <p:nvPr/>
        </p:nvSpPr>
        <p:spPr>
          <a:xfrm>
            <a:off x="421800" y="1063300"/>
            <a:ext cx="8008200" cy="23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rimson Pro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Grid Search: </a:t>
            </a:r>
            <a:endParaRPr b="1"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An exhaustive search over a specified hyperparameter grid.</a:t>
            </a:r>
            <a:endParaRPr sz="12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rimson Pro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Random Search: </a:t>
            </a:r>
            <a:endParaRPr b="1"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Random sampling of hyperparameter values from defined distributions.</a:t>
            </a:r>
            <a:endParaRPr sz="12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rimson Pro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Bayesian Optimization:</a:t>
            </a:r>
            <a:endParaRPr b="1"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A probabilistic model-based approach that uses past evaluation results to select the most promising hyperparameters to evaluate next.</a:t>
            </a:r>
            <a:endParaRPr sz="12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7027"/>
              </a:lnSpc>
              <a:spcBef>
                <a:spcPts val="1200"/>
              </a:spcBef>
              <a:spcAft>
                <a:spcPts val="0"/>
              </a:spcAft>
              <a:buClr>
                <a:srgbClr val="152D47"/>
              </a:buClr>
              <a:buSzPts val="1200"/>
              <a:buFont typeface="Crimson Pro SemiBold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8" name="Google Shape;118;p28"/>
          <p:cNvPicPr preferRelativeResize="0"/>
          <p:nvPr/>
        </p:nvPicPr>
        <p:blipFill rotWithShape="1">
          <a:blip r:embed="rId3">
            <a:alphaModFix/>
          </a:blip>
          <a:srcRect b="57481" l="0" r="0" t="0"/>
          <a:stretch/>
        </p:blipFill>
        <p:spPr>
          <a:xfrm>
            <a:off x="390613" y="3393899"/>
            <a:ext cx="8070526" cy="113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/>
          <p:nvPr/>
        </p:nvSpPr>
        <p:spPr>
          <a:xfrm>
            <a:off x="496125" y="169925"/>
            <a:ext cx="6898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Grid Search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25" name="Google Shape;125;p29"/>
          <p:cNvSpPr/>
          <p:nvPr/>
        </p:nvSpPr>
        <p:spPr>
          <a:xfrm>
            <a:off x="549300" y="1834725"/>
            <a:ext cx="46755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rimson Pro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Exhaustive Search: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 Ensures all specified combinations are tested.​</a:t>
            </a:r>
            <a:b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</a:br>
            <a:endParaRPr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rimson Pro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Simplicity: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 Easy to implement and understand.</a:t>
            </a:r>
            <a:endParaRPr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C4C4D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sp>
        <p:nvSpPr>
          <p:cNvPr id="126" name="Google Shape;126;p29"/>
          <p:cNvSpPr txBox="1"/>
          <p:nvPr/>
        </p:nvSpPr>
        <p:spPr>
          <a:xfrm>
            <a:off x="496125" y="688725"/>
            <a:ext cx="750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lang="en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Systematically evaluates all possible combinations of a predefined set of hyperparameters.</a:t>
            </a:r>
            <a:endParaRPr>
              <a:solidFill>
                <a:srgbClr val="4C4C4D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sp>
        <p:nvSpPr>
          <p:cNvPr id="127" name="Google Shape;127;p29"/>
          <p:cNvSpPr txBox="1"/>
          <p:nvPr/>
        </p:nvSpPr>
        <p:spPr>
          <a:xfrm>
            <a:off x="549300" y="1261737"/>
            <a:ext cx="266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Advantages</a:t>
            </a:r>
            <a:endParaRPr b="1">
              <a:solidFill>
                <a:srgbClr val="4C4C4D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sp>
        <p:nvSpPr>
          <p:cNvPr id="128" name="Google Shape;128;p29"/>
          <p:cNvSpPr txBox="1"/>
          <p:nvPr/>
        </p:nvSpPr>
        <p:spPr>
          <a:xfrm>
            <a:off x="549300" y="2693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Disadvantages</a:t>
            </a:r>
            <a:endParaRPr/>
          </a:p>
        </p:txBody>
      </p:sp>
      <p:sp>
        <p:nvSpPr>
          <p:cNvPr id="129" name="Google Shape;129;p29"/>
          <p:cNvSpPr txBox="1"/>
          <p:nvPr/>
        </p:nvSpPr>
        <p:spPr>
          <a:xfrm>
            <a:off x="496125" y="3093700"/>
            <a:ext cx="631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rimson Pro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Computationally Intensive: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 Evaluates every combination, which can be expensive with large hyperparameter spaces.​</a:t>
            </a:r>
            <a:b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</a:br>
            <a:endParaRPr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rimson Pro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Curse of Dimensionality: 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The search space grows exponentially with the number of hyperparameters, making it impractical for high-dimensional spaces.</a:t>
            </a:r>
            <a:endParaRPr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sp>
        <p:nvSpPr>
          <p:cNvPr id="130" name="Google Shape;130;p29"/>
          <p:cNvSpPr txBox="1"/>
          <p:nvPr/>
        </p:nvSpPr>
        <p:spPr>
          <a:xfrm>
            <a:off x="496125" y="4410900"/>
            <a:ext cx="819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Example:</a:t>
            </a:r>
            <a:r>
              <a:rPr lang="en" sz="12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 Tuning the 'C' and 'gamma' parameters for an SVM classifier by evaluating all combinations from predefined sets.</a:t>
            </a:r>
            <a:endParaRPr sz="1500">
              <a:latin typeface="Crimson Pro Medium"/>
              <a:ea typeface="Crimson Pro Medium"/>
              <a:cs typeface="Crimson Pro Medium"/>
              <a:sym typeface="Crimson Pro Medium"/>
            </a:endParaRPr>
          </a:p>
        </p:txBody>
      </p:sp>
      <p:pic>
        <p:nvPicPr>
          <p:cNvPr id="131" name="Google Shape;131;p29" title="slide 5+6.png"/>
          <p:cNvPicPr preferRelativeResize="0"/>
          <p:nvPr/>
        </p:nvPicPr>
        <p:blipFill rotWithShape="1">
          <a:blip r:embed="rId3">
            <a:alphaModFix/>
          </a:blip>
          <a:srcRect b="0" l="9408" r="48774" t="0"/>
          <a:stretch/>
        </p:blipFill>
        <p:spPr>
          <a:xfrm>
            <a:off x="6666775" y="1164625"/>
            <a:ext cx="2022651" cy="25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/>
          <p:nvPr/>
        </p:nvSpPr>
        <p:spPr>
          <a:xfrm>
            <a:off x="496125" y="169925"/>
            <a:ext cx="6898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Random Search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t/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38" name="Google Shape;138;p30"/>
          <p:cNvSpPr/>
          <p:nvPr/>
        </p:nvSpPr>
        <p:spPr>
          <a:xfrm>
            <a:off x="549300" y="1834725"/>
            <a:ext cx="60798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rimson Pro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Efficiency: 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Can outperform grid search, especially when only a few hyperparameters significantly affect performance.​</a:t>
            </a:r>
            <a:endParaRPr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-304800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rimson Pro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Scalability: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 Handles large and continuous hyperparameter spaces better than grid search.</a:t>
            </a:r>
            <a:endParaRPr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sp>
        <p:nvSpPr>
          <p:cNvPr id="139" name="Google Shape;139;p30"/>
          <p:cNvSpPr txBox="1"/>
          <p:nvPr/>
        </p:nvSpPr>
        <p:spPr>
          <a:xfrm>
            <a:off x="496125" y="688725"/>
            <a:ext cx="750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rPr lang="en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Samples hyperparameters randomly from specified distributions.</a:t>
            </a:r>
            <a:endParaRPr>
              <a:solidFill>
                <a:srgbClr val="4C4C4D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sp>
        <p:nvSpPr>
          <p:cNvPr id="140" name="Google Shape;140;p30"/>
          <p:cNvSpPr txBox="1"/>
          <p:nvPr/>
        </p:nvSpPr>
        <p:spPr>
          <a:xfrm>
            <a:off x="549300" y="1261737"/>
            <a:ext cx="266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Advantages</a:t>
            </a:r>
            <a:endParaRPr b="1">
              <a:solidFill>
                <a:srgbClr val="4C4C4D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sp>
        <p:nvSpPr>
          <p:cNvPr id="141" name="Google Shape;141;p30"/>
          <p:cNvSpPr txBox="1"/>
          <p:nvPr/>
        </p:nvSpPr>
        <p:spPr>
          <a:xfrm>
            <a:off x="549300" y="2693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Disadvantages</a:t>
            </a:r>
            <a:endParaRPr/>
          </a:p>
        </p:txBody>
      </p:sp>
      <p:sp>
        <p:nvSpPr>
          <p:cNvPr id="142" name="Google Shape;142;p30"/>
          <p:cNvSpPr txBox="1"/>
          <p:nvPr/>
        </p:nvSpPr>
        <p:spPr>
          <a:xfrm>
            <a:off x="496125" y="3093700"/>
            <a:ext cx="6132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rimson Pro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No Guarantee of Optimality: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 May miss the best combination due to random sampling.​</a:t>
            </a:r>
            <a:b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</a:br>
            <a:endParaRPr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rimson Pro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Variable Performance: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 The quality of the results can vary between runs.</a:t>
            </a:r>
            <a:endParaRPr sz="13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sp>
        <p:nvSpPr>
          <p:cNvPr id="143" name="Google Shape;143;p30"/>
          <p:cNvSpPr txBox="1"/>
          <p:nvPr/>
        </p:nvSpPr>
        <p:spPr>
          <a:xfrm>
            <a:off x="475350" y="4125275"/>
            <a:ext cx="819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Example: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 Randomly selecting values for 'learning_rate' and 'batch_size' in a neural network to find effective hyperparameters.​</a:t>
            </a:r>
            <a:endParaRPr sz="1200">
              <a:latin typeface="Crimson Pro"/>
              <a:ea typeface="Crimson Pro"/>
              <a:cs typeface="Crimson Pro"/>
              <a:sym typeface="Crimson Pro"/>
            </a:endParaRPr>
          </a:p>
        </p:txBody>
      </p:sp>
      <p:pic>
        <p:nvPicPr>
          <p:cNvPr id="144" name="Google Shape;144;p30" title="slide 5+6.png"/>
          <p:cNvPicPr preferRelativeResize="0"/>
          <p:nvPr/>
        </p:nvPicPr>
        <p:blipFill rotWithShape="1">
          <a:blip r:embed="rId3">
            <a:alphaModFix/>
          </a:blip>
          <a:srcRect b="0" l="50284" r="10249" t="0"/>
          <a:stretch/>
        </p:blipFill>
        <p:spPr>
          <a:xfrm>
            <a:off x="6731460" y="1004163"/>
            <a:ext cx="1957965" cy="259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/>
        </p:nvSpPr>
        <p:spPr>
          <a:xfrm>
            <a:off x="398150" y="1109075"/>
            <a:ext cx="52653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highlight>
                  <a:srgbClr val="FFFFFF"/>
                </a:highlight>
                <a:latin typeface="Crimson Pro"/>
                <a:ea typeface="Crimson Pro"/>
                <a:cs typeface="Crimson Pro"/>
                <a:sym typeface="Crimson Pro"/>
              </a:rPr>
              <a:t>A probabilistic model-based optimization technique that builds a surrogate model to predict the performance of hyperparameters and uses this model to select the most promising hyperparameters to evaluate next.</a:t>
            </a:r>
            <a:endParaRPr sz="1200">
              <a:solidFill>
                <a:srgbClr val="202124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1"/>
          <p:cNvSpPr txBox="1"/>
          <p:nvPr/>
        </p:nvSpPr>
        <p:spPr>
          <a:xfrm>
            <a:off x="398150" y="154375"/>
            <a:ext cx="6429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Introduction to Bayesian Optimization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51" name="Google Shape;151;p31"/>
          <p:cNvSpPr txBox="1"/>
          <p:nvPr/>
        </p:nvSpPr>
        <p:spPr>
          <a:xfrm>
            <a:off x="398150" y="2167850"/>
            <a:ext cx="4746600" cy="19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Advantages</a:t>
            </a:r>
            <a:endParaRPr b="1" sz="13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Sample Efficiency: 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Requires fewer evaluations to find optimal hyperparameters compared to grid and random search.​</a:t>
            </a:r>
            <a:b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</a:br>
            <a:endParaRPr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Balances Exploration and Exploitation: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 Effectively navigates the hyperparameter space by considering both untested and promising regions.​</a:t>
            </a:r>
            <a:b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</a:br>
            <a:endParaRPr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4750" y="1801300"/>
            <a:ext cx="3309549" cy="281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2"/>
          <p:cNvSpPr/>
          <p:nvPr/>
        </p:nvSpPr>
        <p:spPr>
          <a:xfrm>
            <a:off x="496126" y="749275"/>
            <a:ext cx="764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Introduction to Bayesian Optimization</a:t>
            </a:r>
            <a:endParaRPr b="0" i="0" sz="2800" u="none" cap="none" strike="noStrike"/>
          </a:p>
        </p:txBody>
      </p:sp>
      <p:sp>
        <p:nvSpPr>
          <p:cNvPr id="159" name="Google Shape;159;p32"/>
          <p:cNvSpPr/>
          <p:nvPr/>
        </p:nvSpPr>
        <p:spPr>
          <a:xfrm>
            <a:off x="496125" y="1853375"/>
            <a:ext cx="79185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Surrogate Model: 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Constructs a probabilistic model (e.g., Gaussian Process) of the objective function.​</a:t>
            </a:r>
            <a:endParaRPr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-304800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Acquisition Function: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 Utilizes an acquisition function to decide where to sample next, aiming to improve performance.​</a:t>
            </a:r>
            <a:endParaRPr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-304800" lvl="0" marL="45720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Iterative Process: </a:t>
            </a:r>
            <a:r>
              <a:rPr lang="en" sz="12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Iteratively updates the model and selects new hyperparameters to evaluate based on past performance.</a:t>
            </a:r>
            <a:endParaRPr sz="12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t/>
            </a:r>
            <a:endParaRPr sz="1100">
              <a:solidFill>
                <a:srgbClr val="4C4C4D"/>
              </a:solidFill>
              <a:latin typeface="Heebo"/>
              <a:ea typeface="Heebo"/>
              <a:cs typeface="Heebo"/>
              <a:sym typeface="Heeb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t/>
            </a:r>
            <a:endParaRPr sz="1100">
              <a:solidFill>
                <a:srgbClr val="4C4C4D"/>
              </a:solidFill>
              <a:latin typeface="Heebo"/>
              <a:ea typeface="Heebo"/>
              <a:cs typeface="Heebo"/>
              <a:sym typeface="Heebo"/>
            </a:endParaRPr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100"/>
              <a:buFont typeface="Heebo"/>
              <a:buNone/>
            </a:pPr>
            <a:r>
              <a:t/>
            </a:r>
            <a:endParaRPr sz="1100">
              <a:solidFill>
                <a:srgbClr val="4C4C4D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60" name="Google Shape;160;p32"/>
          <p:cNvSpPr txBox="1"/>
          <p:nvPr/>
        </p:nvSpPr>
        <p:spPr>
          <a:xfrm>
            <a:off x="496125" y="1322787"/>
            <a:ext cx="266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C4C4D"/>
                </a:solidFill>
                <a:latin typeface="Crimson Pro"/>
                <a:ea typeface="Crimson Pro"/>
                <a:cs typeface="Crimson Pro"/>
                <a:sym typeface="Crimson Pro"/>
              </a:rPr>
              <a:t>How it works?</a:t>
            </a:r>
            <a:endParaRPr b="1">
              <a:solidFill>
                <a:srgbClr val="4C4C4D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pic>
        <p:nvPicPr>
          <p:cNvPr id="161" name="Google Shape;1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913" y="3016775"/>
            <a:ext cx="4155126" cy="182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038" y="407775"/>
            <a:ext cx="6491925" cy="432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/>
          <p:nvPr/>
        </p:nvSpPr>
        <p:spPr>
          <a:xfrm>
            <a:off x="496125" y="661550"/>
            <a:ext cx="6743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Comparison of Methods</a:t>
            </a:r>
            <a:endParaRPr b="0" i="0" sz="2800" u="none" cap="none" strike="noStrike"/>
          </a:p>
        </p:txBody>
      </p:sp>
      <p:graphicFrame>
        <p:nvGraphicFramePr>
          <p:cNvPr id="173" name="Google Shape;173;p34"/>
          <p:cNvGraphicFramePr/>
          <p:nvPr/>
        </p:nvGraphicFramePr>
        <p:xfrm>
          <a:off x="610275" y="148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{94DAFEA0-E927-4ED5-BA60-9832A9A2B490}</a:tableStyleId>
              </a:tblPr>
              <a:tblGrid>
                <a:gridCol w="1297450"/>
                <a:gridCol w="2871150"/>
                <a:gridCol w="3800300"/>
              </a:tblGrid>
              <a:tr h="600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rimson Pro Medium"/>
                          <a:ea typeface="Crimson Pro Medium"/>
                          <a:cs typeface="Crimson Pro Medium"/>
                          <a:sym typeface="Crimson Pro Medium"/>
                        </a:rPr>
                        <a:t>Method</a:t>
                      </a:r>
                      <a:endParaRPr sz="1300">
                        <a:latin typeface="Crimson Pro Medium"/>
                        <a:ea typeface="Crimson Pro Medium"/>
                        <a:cs typeface="Crimson Pro Medium"/>
                        <a:sym typeface="Crimson Pr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rimson Pro Medium"/>
                          <a:ea typeface="Crimson Pro Medium"/>
                          <a:cs typeface="Crimson Pro Medium"/>
                          <a:sym typeface="Crimson Pro Medium"/>
                        </a:rPr>
                        <a:t>Pros</a:t>
                      </a:r>
                      <a:endParaRPr sz="1300">
                        <a:latin typeface="Crimson Pro Medium"/>
                        <a:ea typeface="Crimson Pro Medium"/>
                        <a:cs typeface="Crimson Pro Medium"/>
                        <a:sym typeface="Crimson Pr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rimson Pro Medium"/>
                          <a:ea typeface="Crimson Pro Medium"/>
                          <a:cs typeface="Crimson Pro Medium"/>
                          <a:sym typeface="Crimson Pro Medium"/>
                        </a:rPr>
                        <a:t>Cons</a:t>
                      </a:r>
                      <a:endParaRPr sz="1300">
                        <a:latin typeface="Crimson Pro Medium"/>
                        <a:ea typeface="Crimson Pro Medium"/>
                        <a:cs typeface="Crimson Pro Medium"/>
                        <a:sym typeface="Crimson Pr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rimson Pro Medium"/>
                          <a:ea typeface="Crimson Pro Medium"/>
                          <a:cs typeface="Crimson Pro Medium"/>
                          <a:sym typeface="Crimson Pro Medium"/>
                        </a:rPr>
                        <a:t>Grid Search</a:t>
                      </a:r>
                      <a:endParaRPr sz="1300">
                        <a:latin typeface="Crimson Pro Medium"/>
                        <a:ea typeface="Crimson Pro Medium"/>
                        <a:cs typeface="Crimson Pro Medium"/>
                        <a:sym typeface="Crimson Pr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rimson Pro Medium"/>
                          <a:ea typeface="Crimson Pro Medium"/>
                          <a:cs typeface="Crimson Pro Medium"/>
                          <a:sym typeface="Crimson Pro Medium"/>
                        </a:rPr>
                        <a:t>Exhaustive search, simple implementation</a:t>
                      </a:r>
                      <a:endParaRPr sz="1300">
                        <a:latin typeface="Crimson Pro Medium"/>
                        <a:ea typeface="Crimson Pro Medium"/>
                        <a:cs typeface="Crimson Pro Medium"/>
                        <a:sym typeface="Crimson Pr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rimson Pro Medium"/>
                          <a:ea typeface="Crimson Pro Medium"/>
                          <a:cs typeface="Crimson Pro Medium"/>
                          <a:sym typeface="Crimson Pro Medium"/>
                        </a:rPr>
                        <a:t>Computationally intensive, suffers from the curse of dimensionality</a:t>
                      </a:r>
                      <a:endParaRPr sz="1300">
                        <a:latin typeface="Crimson Pro Medium"/>
                        <a:ea typeface="Crimson Pro Medium"/>
                        <a:cs typeface="Crimson Pro Medium"/>
                        <a:sym typeface="Crimson Pr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8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rimson Pro Medium"/>
                          <a:ea typeface="Crimson Pro Medium"/>
                          <a:cs typeface="Crimson Pro Medium"/>
                          <a:sym typeface="Crimson Pro Medium"/>
                        </a:rPr>
                        <a:t>Random Search</a:t>
                      </a:r>
                      <a:endParaRPr sz="1300">
                        <a:latin typeface="Crimson Pro Medium"/>
                        <a:ea typeface="Crimson Pro Medium"/>
                        <a:cs typeface="Crimson Pro Medium"/>
                        <a:sym typeface="Crimson Pr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rimson Pro Medium"/>
                          <a:ea typeface="Crimson Pro Medium"/>
                          <a:cs typeface="Crimson Pro Medium"/>
                          <a:sym typeface="Crimson Pro Medium"/>
                        </a:rPr>
                        <a:t>More efficient, explores a broader range</a:t>
                      </a:r>
                      <a:endParaRPr sz="1300">
                        <a:latin typeface="Crimson Pro Medium"/>
                        <a:ea typeface="Crimson Pro Medium"/>
                        <a:cs typeface="Crimson Pro Medium"/>
                        <a:sym typeface="Crimson Pr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rimson Pro Medium"/>
                          <a:ea typeface="Crimson Pro Medium"/>
                          <a:cs typeface="Crimson Pro Medium"/>
                          <a:sym typeface="Crimson Pro Medium"/>
                        </a:rPr>
                        <a:t>May miss optimal combinations, results can vary</a:t>
                      </a:r>
                      <a:endParaRPr sz="1300">
                        <a:latin typeface="Crimson Pro Medium"/>
                        <a:ea typeface="Crimson Pro Medium"/>
                        <a:cs typeface="Crimson Pro Medium"/>
                        <a:sym typeface="Crimson Pr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rimson Pro Medium"/>
                          <a:ea typeface="Crimson Pro Medium"/>
                          <a:cs typeface="Crimson Pro Medium"/>
                          <a:sym typeface="Crimson Pro Medium"/>
                        </a:rPr>
                        <a:t>Bayesian Optimization</a:t>
                      </a:r>
                      <a:endParaRPr sz="1300">
                        <a:latin typeface="Crimson Pro Medium"/>
                        <a:ea typeface="Crimson Pro Medium"/>
                        <a:cs typeface="Crimson Pro Medium"/>
                        <a:sym typeface="Crimson Pr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rimson Pro Medium"/>
                          <a:ea typeface="Crimson Pro Medium"/>
                          <a:cs typeface="Crimson Pro Medium"/>
                          <a:sym typeface="Crimson Pro Medium"/>
                        </a:rPr>
                        <a:t>Sample-efficient, balances exploration and exploitation</a:t>
                      </a:r>
                      <a:endParaRPr sz="1300">
                        <a:latin typeface="Crimson Pro Medium"/>
                        <a:ea typeface="Crimson Pro Medium"/>
                        <a:cs typeface="Crimson Pro Medium"/>
                        <a:sym typeface="Crimson Pr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Crimson Pro Medium"/>
                          <a:ea typeface="Crimson Pro Medium"/>
                          <a:cs typeface="Crimson Pro Medium"/>
                          <a:sym typeface="Crimson Pro Medium"/>
                        </a:rPr>
                        <a:t>More complex to implement, requires additional computational resources</a:t>
                      </a:r>
                      <a:endParaRPr sz="1300">
                        <a:latin typeface="Crimson Pro Medium"/>
                        <a:ea typeface="Crimson Pro Medium"/>
                        <a:cs typeface="Crimson Pro Medium"/>
                        <a:sym typeface="Crimson Pro Medium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5"/>
          <p:cNvSpPr/>
          <p:nvPr/>
        </p:nvSpPr>
        <p:spPr>
          <a:xfrm>
            <a:off x="284874" y="335550"/>
            <a:ext cx="6507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Practical Considerations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80" name="Google Shape;180;p35"/>
          <p:cNvSpPr txBox="1"/>
          <p:nvPr/>
        </p:nvSpPr>
        <p:spPr>
          <a:xfrm>
            <a:off x="284875" y="1078575"/>
            <a:ext cx="8419800" cy="3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Choosing a Method:</a:t>
            </a:r>
            <a:endParaRPr b="1" sz="13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rimson Pro"/>
              <a:buChar char="●"/>
            </a:pPr>
            <a:r>
              <a:rPr b="1" lang="en" sz="13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Grid Search: </a:t>
            </a:r>
            <a:endParaRPr b="1" sz="13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Suitable for small, discrete hyperparameter spaces where exhaustive search is feasible.​</a:t>
            </a:r>
            <a:endParaRPr sz="13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rimson Pro"/>
              <a:buChar char="●"/>
            </a:pPr>
            <a:r>
              <a:rPr b="1" lang="en" sz="13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Random Search: </a:t>
            </a:r>
            <a:endParaRPr b="1" sz="13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Effective for larger or continuous spaces, especially when only a few hyperparameters significantly impact performance.​</a:t>
            </a:r>
            <a:endParaRPr sz="13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rimson Pro"/>
              <a:buChar char="●"/>
            </a:pPr>
            <a:r>
              <a:rPr b="1" lang="en" sz="13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Bayesian Optimization: </a:t>
            </a:r>
            <a:endParaRPr b="1" sz="13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Ideal for expensive-to-evaluate functions or when computational resources are limited, as it seeks to find optimal hyperparameters efficiently.</a:t>
            </a:r>
            <a:endParaRPr sz="13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rimson Pro Medium"/>
              <a:ea typeface="Crimson Pro Medium"/>
              <a:cs typeface="Crimson Pro Medium"/>
              <a:sym typeface="Crimson Pro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/>
          <p:nvPr/>
        </p:nvSpPr>
        <p:spPr>
          <a:xfrm>
            <a:off x="284874" y="335550"/>
            <a:ext cx="6507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Practical Considerations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87" name="Google Shape;187;p36"/>
          <p:cNvSpPr txBox="1"/>
          <p:nvPr/>
        </p:nvSpPr>
        <p:spPr>
          <a:xfrm>
            <a:off x="284875" y="1078575"/>
            <a:ext cx="4512600" cy="3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rimson Pro Medium"/>
              <a:buChar char="●"/>
            </a:pPr>
            <a:r>
              <a:rPr b="1" lang="en" sz="13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Cross-Validation: </a:t>
            </a:r>
            <a:endParaRPr b="1" sz="13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Employ techniques like k-fold cross-validation to assess model performance during tuning, helping prevent overfitting.​</a:t>
            </a:r>
            <a:br>
              <a:rPr lang="en" sz="13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</a:br>
            <a:endParaRPr sz="13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rimson Pro Medium"/>
              <a:buChar char="●"/>
            </a:pPr>
            <a:r>
              <a:rPr b="1" lang="en" sz="13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Computational Resources:</a:t>
            </a:r>
            <a:endParaRPr b="1" sz="1300">
              <a:solidFill>
                <a:schemeClr val="dk1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rimson Pro"/>
                <a:ea typeface="Crimson Pro"/>
                <a:cs typeface="Crimson Pro"/>
                <a:sym typeface="Crimson Pro"/>
              </a:rPr>
              <a:t> </a:t>
            </a:r>
            <a:r>
              <a:rPr lang="en" sz="13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Consider the available computational power and time constraints when selecting a tuning method, as methods like grid search can be resource-intensive</a:t>
            </a:r>
            <a:r>
              <a:rPr lang="en" sz="1300">
                <a:solidFill>
                  <a:schemeClr val="dk1"/>
                </a:solidFill>
                <a:latin typeface="Crimson Pro Medium"/>
                <a:ea typeface="Crimson Pro Medium"/>
                <a:cs typeface="Crimson Pro Medium"/>
                <a:sym typeface="Crimson Pro Medium"/>
              </a:rPr>
              <a:t>.</a:t>
            </a:r>
            <a:endParaRPr sz="1300">
              <a:solidFill>
                <a:schemeClr val="dk1"/>
              </a:solidFill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475" y="1218300"/>
            <a:ext cx="3983551" cy="270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/>
          <p:nvPr/>
        </p:nvSpPr>
        <p:spPr>
          <a:xfrm>
            <a:off x="333619" y="504373"/>
            <a:ext cx="4722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Conclusion</a:t>
            </a:r>
            <a:endParaRPr b="0" i="0" sz="2800" u="none" cap="none" strike="noStrike"/>
          </a:p>
        </p:txBody>
      </p:sp>
      <p:sp>
        <p:nvSpPr>
          <p:cNvPr id="195" name="Google Shape;195;p37"/>
          <p:cNvSpPr txBox="1"/>
          <p:nvPr/>
        </p:nvSpPr>
        <p:spPr>
          <a:xfrm>
            <a:off x="432450" y="1324450"/>
            <a:ext cx="8409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rimson Pro Medium"/>
              <a:buChar char="●"/>
            </a:pPr>
            <a:r>
              <a:rPr lang="en">
                <a:latin typeface="Crimson Pro Medium"/>
                <a:ea typeface="Crimson Pro Medium"/>
                <a:cs typeface="Crimson Pro Medium"/>
                <a:sym typeface="Crimson Pro Medium"/>
              </a:rPr>
              <a:t>Effective hyperparameter tuning is crucial for building robust machine learning models that generalize well to new data.​</a:t>
            </a:r>
            <a:br>
              <a:rPr lang="en">
                <a:latin typeface="Crimson Pro Medium"/>
                <a:ea typeface="Crimson Pro Medium"/>
                <a:cs typeface="Crimson Pro Medium"/>
                <a:sym typeface="Crimson Pro Medium"/>
              </a:rPr>
            </a:br>
            <a:endParaRPr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rimson Pro Medium"/>
              <a:buChar char="●"/>
            </a:pPr>
            <a:r>
              <a:rPr lang="en">
                <a:latin typeface="Crimson Pro Medium"/>
                <a:ea typeface="Crimson Pro Medium"/>
                <a:cs typeface="Crimson Pro Medium"/>
                <a:sym typeface="Crimson Pro Medium"/>
              </a:rPr>
              <a:t>Selecting the appropriate tuning method depends on factors such as the size of the hyperparameter space, computational resources, and the specific characteristics of the problem at hand.</a:t>
            </a:r>
            <a:endParaRPr>
              <a:latin typeface="Crimson Pro Medium"/>
              <a:ea typeface="Crimson Pro Medium"/>
              <a:cs typeface="Crimson Pro Medium"/>
              <a:sym typeface="Crimson Pr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en"/>
              <a:ea typeface="Sen"/>
              <a:cs typeface="Sen"/>
              <a:sym typeface="Sen"/>
            </a:endParaRPr>
          </a:p>
        </p:txBody>
      </p:sp>
      <p:pic>
        <p:nvPicPr>
          <p:cNvPr id="196" name="Google Shape;196;p37"/>
          <p:cNvPicPr preferRelativeResize="0"/>
          <p:nvPr/>
        </p:nvPicPr>
        <p:blipFill rotWithShape="1">
          <a:blip r:embed="rId3">
            <a:alphaModFix/>
          </a:blip>
          <a:srcRect b="11339" l="0" r="0" t="0"/>
          <a:stretch/>
        </p:blipFill>
        <p:spPr>
          <a:xfrm>
            <a:off x="1124588" y="2801950"/>
            <a:ext cx="7025625" cy="20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