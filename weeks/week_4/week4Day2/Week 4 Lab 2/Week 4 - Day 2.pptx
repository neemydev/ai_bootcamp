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Crimson Pro SemiBold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CrimsonProSemiBold-bold.fntdata"/><Relationship Id="rId10" Type="http://schemas.openxmlformats.org/officeDocument/2006/relationships/slide" Target="slides/slide4.xml"/><Relationship Id="rId21" Type="http://schemas.openxmlformats.org/officeDocument/2006/relationships/font" Target="fonts/CrimsonProSemiBold-regular.fntdata"/><Relationship Id="rId13" Type="http://schemas.openxmlformats.org/officeDocument/2006/relationships/slide" Target="slides/slide7.xml"/><Relationship Id="rId24" Type="http://schemas.openxmlformats.org/officeDocument/2006/relationships/font" Target="fonts/CrimsonProSemiBold-boldItalic.fntdata"/><Relationship Id="rId12" Type="http://schemas.openxmlformats.org/officeDocument/2006/relationships/slide" Target="slides/slide6.xml"/><Relationship Id="rId23" Type="http://schemas.openxmlformats.org/officeDocument/2006/relationships/font" Target="fonts/CrimsonPro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30c7e80f6_2_3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430c7e80f6_2_3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1" name="Google Shape;101;g3430c7e80f6_2_3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30c7e80f6_2_4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430c7e80f6_2_4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9" name="Google Shape;109;g3430c7e80f6_2_4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30c7e80f6_2_56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430c7e80f6_2_56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9" name="Google Shape;119;g3430c7e80f6_2_56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34be1ecb3_1_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434be1ecb3_1_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7" name="Google Shape;127;g3434be1ecb3_1_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3f4c77d8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3f4c77d8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30c7e80f6_2_87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430c7e80f6_2_87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2" name="Google Shape;142;g3430c7e80f6_2_87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30c7e80f6_2_9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430c7e80f6_2_9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0" name="Google Shape;150;g3430c7e80f6_2_9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30c7e80f6_2_11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430c7e80f6_2_11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8" name="Google Shape;158;g3430c7e80f6_2_11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30c7e80f6_4_41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430c7e80f6_4_41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5" name="Google Shape;165;g3430c7e80f6_4_41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30c7e80f6_4_4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430c7e80f6_4_4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3" name="Google Shape;173;g3430c7e80f6_4_4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39cd885e2_0_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439cd885e2_0_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1" name="Google Shape;181;g3439cd885e2_0_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30c7e80f6_4_67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430c7e80f6_4_67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8" name="Google Shape;188;g3430c7e80f6_4_67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30c7e80f6_4_7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430c7e80f6_4_7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96" name="Google Shape;196;g3430c7e80f6_4_7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Machine Learning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Unsupervised Learning</a:t>
            </a:r>
            <a:endParaRPr b="1" sz="3500"/>
          </a:p>
        </p:txBody>
      </p:sp>
      <p:sp>
        <p:nvSpPr>
          <p:cNvPr id="97" name="Google Shape;9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4 - Day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/>
          <p:nvPr/>
        </p:nvSpPr>
        <p:spPr>
          <a:xfrm>
            <a:off x="496126" y="726525"/>
            <a:ext cx="53463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What is Unsupervised Learning?</a:t>
            </a:r>
            <a:endParaRPr b="0" i="0" sz="2800" u="none" cap="none" strike="noStrike"/>
          </a:p>
        </p:txBody>
      </p:sp>
      <p:sp>
        <p:nvSpPr>
          <p:cNvPr id="104" name="Google Shape;104;p26"/>
          <p:cNvSpPr/>
          <p:nvPr/>
        </p:nvSpPr>
        <p:spPr>
          <a:xfrm>
            <a:off x="496119" y="1756358"/>
            <a:ext cx="4722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Learning from </a:t>
            </a:r>
            <a:r>
              <a:rPr b="1" lang="en" sz="1100">
                <a:solidFill>
                  <a:schemeClr val="dk1"/>
                </a:solidFill>
              </a:rPr>
              <a:t>unlabeled data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model identifies patterns, groups, or structures without explicit guidance.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Main Types: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Clustering:</a:t>
            </a:r>
            <a:r>
              <a:rPr lang="en" sz="1100">
                <a:solidFill>
                  <a:schemeClr val="dk1"/>
                </a:solidFill>
              </a:rPr>
              <a:t> Grouping similar data points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Dimensionality Reduction:</a:t>
            </a:r>
            <a:r>
              <a:rPr lang="en" sz="1100">
                <a:solidFill>
                  <a:schemeClr val="dk1"/>
                </a:solidFill>
              </a:rPr>
              <a:t> Reducing the number of features while preserving structure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Use Cases: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Anomaly detection, data compression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120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5" name="Google Shape;10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925" y="3302425"/>
            <a:ext cx="4968701" cy="184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/>
          <p:nvPr/>
        </p:nvSpPr>
        <p:spPr>
          <a:xfrm>
            <a:off x="496128" y="382750"/>
            <a:ext cx="4980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Clustering – Core Idea</a:t>
            </a:r>
            <a:endParaRPr b="0" i="0" sz="2800" u="none" cap="none" strike="noStrike"/>
          </a:p>
        </p:txBody>
      </p:sp>
      <p:sp>
        <p:nvSpPr>
          <p:cNvPr id="112" name="Google Shape;112;p27"/>
          <p:cNvSpPr/>
          <p:nvPr/>
        </p:nvSpPr>
        <p:spPr>
          <a:xfrm>
            <a:off x="992237" y="3207841"/>
            <a:ext cx="31449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Crimson Pro SemiBold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113" name="Google Shape;113;p27"/>
          <p:cNvSpPr/>
          <p:nvPr/>
        </p:nvSpPr>
        <p:spPr>
          <a:xfrm>
            <a:off x="496119" y="3746451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t/>
            </a:r>
            <a:endParaRPr b="0" i="0" sz="1100" u="none" cap="none" strike="noStrike"/>
          </a:p>
        </p:txBody>
      </p:sp>
      <p:sp>
        <p:nvSpPr>
          <p:cNvPr id="114" name="Google Shape;114;p27"/>
          <p:cNvSpPr txBox="1"/>
          <p:nvPr/>
        </p:nvSpPr>
        <p:spPr>
          <a:xfrm>
            <a:off x="314400" y="2190750"/>
            <a:ext cx="4793700" cy="11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is Clustering?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Grouping data points so that points in the </a:t>
            </a:r>
            <a:r>
              <a:rPr b="1" lang="en" sz="1100">
                <a:solidFill>
                  <a:schemeClr val="dk1"/>
                </a:solidFill>
              </a:rPr>
              <a:t>same cluster</a:t>
            </a:r>
            <a:r>
              <a:rPr lang="en" sz="1100">
                <a:solidFill>
                  <a:schemeClr val="dk1"/>
                </a:solidFill>
              </a:rPr>
              <a:t> are more similar to each other than to points in </a:t>
            </a:r>
            <a:r>
              <a:rPr b="1" lang="en" sz="1100">
                <a:solidFill>
                  <a:schemeClr val="dk1"/>
                </a:solidFill>
              </a:rPr>
              <a:t>other clusters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Applications: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Customer segmentation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Document categorization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Image compression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Assumption: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There is an </a:t>
            </a:r>
            <a:r>
              <a:rPr b="1" lang="en" sz="1100">
                <a:solidFill>
                  <a:schemeClr val="dk1"/>
                </a:solidFill>
              </a:rPr>
              <a:t>inherent structure</a:t>
            </a:r>
            <a:r>
              <a:rPr lang="en" sz="1100">
                <a:solidFill>
                  <a:schemeClr val="dk1"/>
                </a:solidFill>
              </a:rPr>
              <a:t> in data that can be revealed.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/>
          </a:p>
        </p:txBody>
      </p:sp>
      <p:pic>
        <p:nvPicPr>
          <p:cNvPr id="115" name="Google Shape;1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4850" y="1807050"/>
            <a:ext cx="4119150" cy="2341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/>
          <p:nvPr/>
        </p:nvSpPr>
        <p:spPr>
          <a:xfrm>
            <a:off x="421772" y="331450"/>
            <a:ext cx="58086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300"/>
              <a:buFont typeface="Crimson Pro SemiBold"/>
              <a:buNone/>
            </a:pPr>
            <a:r>
              <a:rPr b="1" lang="en" sz="23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K-MEANS CLUSTERING</a:t>
            </a:r>
            <a:endParaRPr b="0" i="0" sz="2300" u="none" cap="none" strike="noStrike"/>
          </a:p>
        </p:txBody>
      </p:sp>
      <p:sp>
        <p:nvSpPr>
          <p:cNvPr id="122" name="Google Shape;122;p28"/>
          <p:cNvSpPr/>
          <p:nvPr/>
        </p:nvSpPr>
        <p:spPr>
          <a:xfrm>
            <a:off x="421766" y="1232000"/>
            <a:ext cx="52905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Concept: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Partition data into </a:t>
            </a:r>
            <a:r>
              <a:rPr b="1" lang="en" sz="1100">
                <a:solidFill>
                  <a:schemeClr val="dk1"/>
                </a:solidFill>
              </a:rPr>
              <a:t>K clusters</a:t>
            </a:r>
            <a:r>
              <a:rPr lang="en" sz="1100">
                <a:solidFill>
                  <a:schemeClr val="dk1"/>
                </a:solidFill>
              </a:rPr>
              <a:t> based on similarity.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Each cluster has a </a:t>
            </a:r>
            <a:r>
              <a:rPr b="1" lang="en" sz="1100">
                <a:solidFill>
                  <a:schemeClr val="dk1"/>
                </a:solidFill>
              </a:rPr>
              <a:t>centroid</a:t>
            </a:r>
            <a:r>
              <a:rPr lang="en" sz="1100">
                <a:solidFill>
                  <a:schemeClr val="dk1"/>
                </a:solidFill>
              </a:rPr>
              <a:t> (mean position).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Choose K (number of clusters)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Initialize K centroids randomly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Assign each point to the </a:t>
            </a:r>
            <a:r>
              <a:rPr b="1" lang="en" sz="1100">
                <a:solidFill>
                  <a:schemeClr val="dk1"/>
                </a:solidFill>
              </a:rPr>
              <a:t>nearest centroid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Update centroids (mean of points in each cluster)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Repeat until convergence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7027"/>
              </a:lnSpc>
              <a:spcBef>
                <a:spcPts val="1200"/>
              </a:spcBef>
              <a:spcAft>
                <a:spcPts val="0"/>
              </a:spcAft>
              <a:buClr>
                <a:srgbClr val="152D47"/>
              </a:buClr>
              <a:buSzPts val="1200"/>
              <a:buFont typeface="Crimson Pro SemiBold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3" name="Google Shape;1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900" y="1748300"/>
            <a:ext cx="5327100" cy="221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/>
          <p:nvPr/>
        </p:nvSpPr>
        <p:spPr>
          <a:xfrm>
            <a:off x="496125" y="169925"/>
            <a:ext cx="6898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K-Means – Mathematical Steps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30" name="Google Shape;13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175" y="1033575"/>
            <a:ext cx="6048375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3450" y="2339825"/>
            <a:ext cx="4485875" cy="280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/>
        </p:nvSpPr>
        <p:spPr>
          <a:xfrm>
            <a:off x="455050" y="300650"/>
            <a:ext cx="553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Choosing K – Elbow Method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37" name="Google Shape;137;p30"/>
          <p:cNvSpPr txBox="1"/>
          <p:nvPr/>
        </p:nvSpPr>
        <p:spPr>
          <a:xfrm>
            <a:off x="455050" y="1072575"/>
            <a:ext cx="42498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Problem:</a:t>
            </a:r>
            <a:r>
              <a:rPr lang="en" sz="1100">
                <a:solidFill>
                  <a:schemeClr val="dk1"/>
                </a:solidFill>
              </a:rPr>
              <a:t> How to choose the best number of clusters?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Elbow Method: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Run K-Means for multiple values of K (e.g., 1 to 10)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Plot K vs WCSS (Within-Cluster Sum of Squares)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Look for the </a:t>
            </a:r>
            <a:r>
              <a:rPr b="1" lang="en" sz="1100">
                <a:solidFill>
                  <a:schemeClr val="dk1"/>
                </a:solidFill>
              </a:rPr>
              <a:t>"elbow point"</a:t>
            </a:r>
            <a:r>
              <a:rPr lang="en" sz="1100">
                <a:solidFill>
                  <a:schemeClr val="dk1"/>
                </a:solidFill>
              </a:rPr>
              <a:t> – where WCSS decreases sharply and then levels off.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38" name="Google Shape;1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250" y="1068650"/>
            <a:ext cx="4134351" cy="3072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/>
          <p:nvPr/>
        </p:nvSpPr>
        <p:spPr>
          <a:xfrm>
            <a:off x="496126" y="749275"/>
            <a:ext cx="764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HIERARCHICAL CLUSTERING</a:t>
            </a:r>
            <a:endParaRPr b="0" i="0" sz="2800" u="none" cap="none" strike="noStrike"/>
          </a:p>
        </p:txBody>
      </p:sp>
      <p:sp>
        <p:nvSpPr>
          <p:cNvPr id="145" name="Google Shape;145;p31"/>
          <p:cNvSpPr txBox="1"/>
          <p:nvPr/>
        </p:nvSpPr>
        <p:spPr>
          <a:xfrm>
            <a:off x="496125" y="1251350"/>
            <a:ext cx="4614900" cy="3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Types: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Agglomerative (Bottom-Up)</a:t>
            </a:r>
            <a:r>
              <a:rPr lang="en" sz="1100">
                <a:solidFill>
                  <a:schemeClr val="dk1"/>
                </a:solidFill>
              </a:rPr>
              <a:t> – Start with individual points, merge clusters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Divisive (Top-Down)</a:t>
            </a:r>
            <a:r>
              <a:rPr lang="en" sz="1100">
                <a:solidFill>
                  <a:schemeClr val="dk1"/>
                </a:solidFill>
              </a:rPr>
              <a:t> – Start with one cluster, split recursively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Process (Agglomerative):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Compute distance matrix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Merge closest clusters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Repeat until one cluster remains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No need to specify K upfront!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46" name="Google Shape;1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025" y="2620475"/>
            <a:ext cx="3728174" cy="1994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/>
          <p:nvPr/>
        </p:nvSpPr>
        <p:spPr>
          <a:xfrm>
            <a:off x="496125" y="661550"/>
            <a:ext cx="6743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Dendrograms – Visualization</a:t>
            </a:r>
            <a:endParaRPr b="0" i="0" sz="2800" u="none" cap="none" strike="noStrike"/>
          </a:p>
        </p:txBody>
      </p:sp>
      <p:sp>
        <p:nvSpPr>
          <p:cNvPr id="153" name="Google Shape;153;p32"/>
          <p:cNvSpPr txBox="1"/>
          <p:nvPr/>
        </p:nvSpPr>
        <p:spPr>
          <a:xfrm>
            <a:off x="496125" y="1373225"/>
            <a:ext cx="38349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Dendrogram: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 tree-like diagram showing merge/split decisions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Vertical axis: distance between clusters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Horizontal cut: defines number of clusters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Use to determine optimal K by cutting at largest vertical gap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54" name="Google Shape;15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0925" y="1500800"/>
            <a:ext cx="4508175" cy="30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/>
          <p:nvPr/>
        </p:nvSpPr>
        <p:spPr>
          <a:xfrm>
            <a:off x="284874" y="335550"/>
            <a:ext cx="6507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K-Means vs Hierarchical Clustering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120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450" y="1605475"/>
            <a:ext cx="7353300" cy="22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4"/>
          <p:cNvSpPr/>
          <p:nvPr/>
        </p:nvSpPr>
        <p:spPr>
          <a:xfrm>
            <a:off x="333626" y="504375"/>
            <a:ext cx="55575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DIMENSIONALITY REDUCTION</a:t>
            </a:r>
            <a:endParaRPr b="0" i="0" sz="2800" u="none" cap="none" strike="noStrike"/>
          </a:p>
        </p:txBody>
      </p:sp>
      <p:sp>
        <p:nvSpPr>
          <p:cNvPr id="168" name="Google Shape;168;p34"/>
          <p:cNvSpPr txBox="1"/>
          <p:nvPr/>
        </p:nvSpPr>
        <p:spPr>
          <a:xfrm>
            <a:off x="333625" y="1161950"/>
            <a:ext cx="4533600" cy="30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What is Dimensionality Reduction?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Problem: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High-dimensional data → hard to visualize, slow to process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Some features may be redundant or noisy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Goal: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Reduce number of features while retaining important patterns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Benefits: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Improves visualization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Reduces computation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Removes noise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69" name="Google Shape;16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8450" y="2847500"/>
            <a:ext cx="6265551" cy="22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5"/>
          <p:cNvSpPr/>
          <p:nvPr/>
        </p:nvSpPr>
        <p:spPr>
          <a:xfrm>
            <a:off x="496125" y="478250"/>
            <a:ext cx="5663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PCA – Principal Component Analysis</a:t>
            </a:r>
            <a:endParaRPr b="0" i="0" sz="2800" u="none" cap="none" strike="noStrike"/>
          </a:p>
        </p:txBody>
      </p:sp>
      <p:sp>
        <p:nvSpPr>
          <p:cNvPr id="176" name="Google Shape;176;p35"/>
          <p:cNvSpPr txBox="1"/>
          <p:nvPr/>
        </p:nvSpPr>
        <p:spPr>
          <a:xfrm>
            <a:off x="496125" y="1088825"/>
            <a:ext cx="4428300" cy="3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Goal: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Find new axes (principal components) that </a:t>
            </a:r>
            <a:r>
              <a:rPr b="1" lang="en" sz="1100">
                <a:solidFill>
                  <a:schemeClr val="dk1"/>
                </a:solidFill>
              </a:rPr>
              <a:t>maximize variance</a:t>
            </a:r>
            <a:r>
              <a:rPr lang="en" sz="1100">
                <a:solidFill>
                  <a:schemeClr val="dk1"/>
                </a:solidFill>
              </a:rPr>
              <a:t> in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Concept: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Rotate the coordinate system to capture the most variation in fewer dimensions.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Steps: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Standardize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Compute covariance matrix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Compute eigenvectors (directions) and eigenvalues (importance)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Project data onto top components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77" name="Google Shape;17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5825" y="2120775"/>
            <a:ext cx="4318175" cy="302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/>
          <p:nvPr/>
        </p:nvSpPr>
        <p:spPr>
          <a:xfrm>
            <a:off x="343724" y="478250"/>
            <a:ext cx="641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PCA – Mathematical Formulation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84" name="Google Shape;1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25" y="1268775"/>
            <a:ext cx="7019925" cy="32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/>
          <p:nvPr/>
        </p:nvSpPr>
        <p:spPr>
          <a:xfrm>
            <a:off x="496126" y="397425"/>
            <a:ext cx="593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 t-SNE – Visualization Tool</a:t>
            </a:r>
            <a:endParaRPr b="0" i="0" sz="2800" u="none" cap="none" strike="noStrike"/>
          </a:p>
        </p:txBody>
      </p:sp>
      <p:sp>
        <p:nvSpPr>
          <p:cNvPr id="191" name="Google Shape;191;p37"/>
          <p:cNvSpPr/>
          <p:nvPr/>
        </p:nvSpPr>
        <p:spPr>
          <a:xfrm>
            <a:off x="496119" y="1211523"/>
            <a:ext cx="8151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t-SNE (t-distributed Stochastic Neighbor Embedding):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Non-linear technique for </a:t>
            </a:r>
            <a:r>
              <a:rPr b="1" lang="en" sz="1100">
                <a:solidFill>
                  <a:schemeClr val="dk1"/>
                </a:solidFill>
              </a:rPr>
              <a:t>visualizing high-dimensional data in 2D or 3D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Concept: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Preserves </a:t>
            </a:r>
            <a:r>
              <a:rPr b="1" lang="en" sz="1100">
                <a:solidFill>
                  <a:schemeClr val="dk1"/>
                </a:solidFill>
              </a:rPr>
              <a:t>local structure</a:t>
            </a:r>
            <a:r>
              <a:rPr lang="en" sz="1100">
                <a:solidFill>
                  <a:schemeClr val="dk1"/>
                </a:solidFill>
              </a:rPr>
              <a:t> (similar points stay close)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Not for training, just for </a:t>
            </a:r>
            <a:r>
              <a:rPr b="1" lang="en" sz="1100">
                <a:solidFill>
                  <a:schemeClr val="dk1"/>
                </a:solidFill>
              </a:rPr>
              <a:t>visual insight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Use Cases: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Visualizing word embeddings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Understanding clusters in high-dimensional datasets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Caution:</a:t>
            </a:r>
            <a:r>
              <a:rPr lang="en" sz="1100">
                <a:solidFill>
                  <a:schemeClr val="dk1"/>
                </a:solidFill>
              </a:rPr>
              <a:t> Sensitive to hyperparameters (perplexity, learning rate)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92" name="Google Shape;19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8400" y="1969923"/>
            <a:ext cx="3255598" cy="3173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8"/>
          <p:cNvSpPr/>
          <p:nvPr/>
        </p:nvSpPr>
        <p:spPr>
          <a:xfrm>
            <a:off x="390500" y="352850"/>
            <a:ext cx="579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Unsupervised Learning in Practice</a:t>
            </a:r>
            <a:endParaRPr b="1" sz="1700">
              <a:solidFill>
                <a:srgbClr val="05192D"/>
              </a:solidFill>
              <a:highlight>
                <a:srgbClr val="FFFFFF"/>
              </a:highlight>
            </a:endParaRPr>
          </a:p>
        </p:txBody>
      </p:sp>
      <p:pic>
        <p:nvPicPr>
          <p:cNvPr id="199" name="Google Shape;19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738" y="1206325"/>
            <a:ext cx="6524625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